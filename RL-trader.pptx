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  <p:sldId id="270" r:id="rId16"/>
    <p:sldId id="271" r:id="rId17"/>
    <p:sldId id="277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52" d="100"/>
          <a:sy n="52" d="100"/>
        </p:scale>
        <p:origin x="84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EF0F4-8EFE-831B-9E9E-BBF5DD030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0E9E4B-A691-C8A9-F0B3-E07C5EB2E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9D4A6-1383-234D-DAA8-5CC8CADD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55D233-A475-C09A-5254-8C93B712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9D7B99-0718-9F58-C701-115C54E7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BFEF4-B256-BEC3-8DAD-ED1ACFB5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A3AE36-64D6-89CB-3FD6-E62A592D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09D2-63AA-3929-1154-69D147D0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A2E260-798B-49BB-1ED8-3506D5B3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1645B0-C6D6-D1FB-C214-C2C870A4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064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A1A2A-D653-B1D7-01BB-8AF6D9221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5D6D3-3DEA-ECC8-99A5-68904F929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CB122-7661-95BC-E2B2-7987944C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E3409-0DE8-63DC-065A-849EDC59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1F3BCA-2D7E-8737-327F-8DB8224C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80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68A22-FEA2-B94C-9FD7-19A50980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800E13-80BF-23DD-C4F4-7B401C9C6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57FB59-C5A7-9201-3A05-7213A3524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7FA25C-EB84-4B53-E594-277870E8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E25EE1-0897-61E1-C658-E7ABAF31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786293-F0B6-F945-D859-29397F3D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82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D6FF9-30D9-33C4-39DB-43746DB8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F565A-100B-DF2F-EBD6-892D0555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8653F2-D416-89EC-7B8E-3AA54512E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E726E3-F72D-AA67-37C7-56F5C588B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C08C69-C9B0-2830-360F-7925AEA51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09170C-5119-2688-A199-67E23B52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2759AB-66DF-C257-9185-A266C849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625BB6-3D65-7833-E5E9-B1957997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15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75F9B-CC78-1C48-2B4E-2D358B28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BA8B6D-DC33-FFAD-CFBC-5C16C8E7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620264-7C76-0E1D-8559-8A72395F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6A3CF2-C6A2-5928-2461-FAD953D8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37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55CD1E-D781-C9B5-2616-BAB035F1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567AF3-29E6-CB2F-AF0B-95744410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D18B6-CF71-F70B-271B-8A09FA73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79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3F761-2DCC-576D-1AA2-B2545104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6E31D-BB9D-9F4E-6CDC-E0169BAB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526B2F-44B8-6A91-8ED4-70AEDA4CF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AC2D57-B992-59FC-8D93-84924C01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A92515-494E-AE3E-0317-6E3EEC46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AAEC4-BFC2-216D-D19C-DA3068CA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747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A1E84-D4BD-7F3A-D707-4891BC3A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4C9D2AE-F043-4184-0125-F469DB97B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B3F448-BC83-D833-66A5-B6306B6A8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AC5D00-E0C2-85AC-567B-41D215B2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EABEDA-D86E-8756-1147-ED7BF459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CAB93D-50B4-23AA-40B5-9A559D49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255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FF93F-077A-11C5-79A9-34647267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23E64A-FB8C-CD27-50BF-4CD816ACA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544386-51C3-5563-44A1-B63A1E89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BD5AD-12B0-94F4-AEB7-AEBF07D30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3A55A-81CB-AF21-2777-78D53599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5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1E2949-F4DE-78D4-7334-958C33245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CA1A8E-1D32-848F-4D27-5431C5A66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A29DE9-F9A7-D636-9799-46268F59D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3E09DA-7829-82B6-B157-FC247F64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111AA4-7A6B-395E-A611-EA5FDBBF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81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37C0A7-D4DB-B08C-7DB3-1446B5D4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794B94-67EF-163A-9796-8DB5A3B8F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68927-AC9B-65F9-0AFA-371A74D98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14D77-2A66-4023-8E5F-45A71498F7C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A76BA-8F8C-FD3A-D34C-5EA680F71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5CD537-2319-7EF6-2C89-448FE42C9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05F1B-EB20-4502-BE86-A73C16552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08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oe786950/RL_project_20241601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B6BD0-A356-8196-8CDF-E28C0E5C4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306637"/>
          </a:xfrm>
        </p:spPr>
        <p:txBody>
          <a:bodyPr>
            <a:normAutofit/>
          </a:bodyPr>
          <a:lstStyle/>
          <a:p>
            <a:r>
              <a:rPr lang="en-US" altLang="ko-KR" dirty="0"/>
              <a:t>RL-trader</a:t>
            </a:r>
            <a:br>
              <a:rPr lang="en-US" altLang="ko-KR" dirty="0"/>
            </a:br>
            <a:r>
              <a:rPr lang="en-US" altLang="ko-KR" sz="2200" dirty="0" err="1"/>
              <a:t>Upbit</a:t>
            </a:r>
            <a:r>
              <a:rPr lang="en-US" altLang="ko-KR" sz="2200" dirty="0"/>
              <a:t> ETH/KRW </a:t>
            </a:r>
            <a:r>
              <a:rPr lang="ko-KR" altLang="en-US" sz="2200" dirty="0" err="1"/>
              <a:t>일봉</a:t>
            </a:r>
            <a:r>
              <a:rPr lang="ko-KR" altLang="en-US" sz="2200" dirty="0"/>
              <a:t> 데이터를 이용한 강화학습 실험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074AC1-3806-675E-06E7-6FA6AF7CE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20241601 </a:t>
            </a:r>
            <a:r>
              <a:rPr lang="ko-KR" altLang="en-US" dirty="0"/>
              <a:t>박재우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https://github.com/joe786950/RL_project_20241601.git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722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67AB6-7717-5B2B-234E-5C680FC7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514A14-2FA9-4261-2130-43E8FEA7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: </a:t>
            </a:r>
            <a:r>
              <a:rPr lang="ko-KR" altLang="en-US" dirty="0"/>
              <a:t>단일 자산</a:t>
            </a:r>
            <a:r>
              <a:rPr lang="en-US" altLang="ko-KR" dirty="0"/>
              <a:t>(ETH/KRW)</a:t>
            </a:r>
            <a:r>
              <a:rPr lang="ko-KR" altLang="en-US" dirty="0"/>
              <a:t>에 대해 자동으로 매수</a:t>
            </a:r>
            <a:r>
              <a:rPr lang="en-US" altLang="ko-KR" dirty="0"/>
              <a:t>/</a:t>
            </a:r>
            <a:r>
              <a:rPr lang="ko-KR" altLang="en-US" dirty="0"/>
              <a:t>매도 의사결정을 하는 </a:t>
            </a:r>
            <a:r>
              <a:rPr lang="en-US" altLang="ko-KR" dirty="0"/>
              <a:t>trading agent</a:t>
            </a:r>
            <a:r>
              <a:rPr lang="ko-KR" altLang="en-US" dirty="0"/>
              <a:t>를 강화학습으로 학습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목표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금융 시계열 데이터에 맞는 강화학습 환경을 설계</a:t>
            </a:r>
            <a:endParaRPr lang="en-US" altLang="ko-KR" dirty="0"/>
          </a:p>
          <a:p>
            <a:pPr lvl="1"/>
            <a:r>
              <a:rPr lang="en-US" altLang="ko-KR" dirty="0"/>
              <a:t>PPO</a:t>
            </a:r>
            <a:r>
              <a:rPr lang="ko-KR" altLang="en-US" dirty="0"/>
              <a:t> 알고리즘을 이용해 </a:t>
            </a:r>
            <a:r>
              <a:rPr lang="en-US" altLang="ko-KR" dirty="0"/>
              <a:t>trading policy</a:t>
            </a:r>
            <a:r>
              <a:rPr lang="ko-KR" altLang="en-US" dirty="0"/>
              <a:t> 학습</a:t>
            </a:r>
            <a:endParaRPr lang="en-US" altLang="ko-KR" dirty="0"/>
          </a:p>
          <a:p>
            <a:pPr lvl="1"/>
            <a:r>
              <a:rPr lang="ko-KR" altLang="en-US" dirty="0"/>
              <a:t>동일기간 </a:t>
            </a:r>
            <a:r>
              <a:rPr lang="en-US" altLang="ko-KR" dirty="0"/>
              <a:t>Buy &amp; Hold </a:t>
            </a:r>
            <a:r>
              <a:rPr lang="ko-KR" altLang="en-US" dirty="0"/>
              <a:t>전략과 수익률 비교</a:t>
            </a:r>
            <a:endParaRPr lang="en-US" altLang="ko-KR" dirty="0"/>
          </a:p>
          <a:p>
            <a:pPr lvl="1"/>
            <a:r>
              <a:rPr lang="en-US" altLang="ko-KR" dirty="0"/>
              <a:t>BTC</a:t>
            </a:r>
            <a:r>
              <a:rPr lang="ko-KR" altLang="en-US" dirty="0"/>
              <a:t>와 같은 다른 자산으로의 확장 가능성 확인</a:t>
            </a:r>
          </a:p>
        </p:txBody>
      </p:sp>
    </p:spTree>
    <p:extLst>
      <p:ext uri="{BB962C8B-B14F-4D97-AF65-F5344CB8AC3E}">
        <p14:creationId xmlns:p14="http://schemas.microsoft.com/office/powerpoint/2010/main" val="86484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589B2-8B5A-2710-CF42-75189917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및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E33F33-BC14-08DB-14D9-37CC51D7E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데이터</a:t>
            </a:r>
            <a:r>
              <a:rPr lang="en-US" altLang="ko-KR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en-US" altLang="ko-KR" dirty="0" err="1"/>
              <a:t>Upbit</a:t>
            </a:r>
            <a:r>
              <a:rPr lang="en-US" altLang="ko-KR" dirty="0"/>
              <a:t> Public API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자산</a:t>
            </a:r>
            <a:r>
              <a:rPr lang="en-US" altLang="ko-KR" dirty="0"/>
              <a:t>: ETH/KRW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기간</a:t>
            </a:r>
            <a:r>
              <a:rPr lang="en-US" altLang="ko-KR" dirty="0"/>
              <a:t>: (</a:t>
            </a:r>
            <a:r>
              <a:rPr lang="ko-KR" altLang="en-US" dirty="0"/>
              <a:t>예시</a:t>
            </a:r>
            <a:r>
              <a:rPr lang="en-US" altLang="ko-KR" dirty="0"/>
              <a:t>) 2018-01-01 ~ 2024-01-01 (parameter</a:t>
            </a:r>
            <a:r>
              <a:rPr lang="ko-KR" altLang="en-US" dirty="0"/>
              <a:t>로 조절 가능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캔들</a:t>
            </a:r>
            <a:r>
              <a:rPr lang="en-US" altLang="ko-KR" dirty="0"/>
              <a:t>: </a:t>
            </a:r>
            <a:r>
              <a:rPr lang="ko-KR" altLang="en-US" dirty="0" err="1"/>
              <a:t>일봉</a:t>
            </a:r>
            <a:r>
              <a:rPr lang="ko-KR" altLang="en-US" dirty="0"/>
              <a:t> </a:t>
            </a:r>
            <a:r>
              <a:rPr lang="en-US" altLang="ko-KR" dirty="0"/>
              <a:t>or 4</a:t>
            </a:r>
            <a:r>
              <a:rPr lang="ko-KR" altLang="en-US" dirty="0" err="1"/>
              <a:t>시간봉</a:t>
            </a:r>
            <a:r>
              <a:rPr lang="ko-KR" altLang="en-US" dirty="0"/>
              <a:t> 등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 err="1"/>
              <a:t>전처리</a:t>
            </a:r>
            <a:r>
              <a:rPr lang="en-US" altLang="ko-KR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dirty="0" err="1"/>
              <a:t>결측치</a:t>
            </a:r>
            <a:r>
              <a:rPr lang="ko-KR" altLang="en-US" dirty="0"/>
              <a:t> 처리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기술적 지표 계산</a:t>
            </a:r>
            <a:r>
              <a:rPr lang="en-US" altLang="ko-KR" dirty="0"/>
              <a:t>: OHLCV</a:t>
            </a:r>
            <a:r>
              <a:rPr lang="ko-KR" altLang="en-US" dirty="0"/>
              <a:t>를 기반으로 여러 기술적 지표</a:t>
            </a:r>
            <a:r>
              <a:rPr lang="en-US" altLang="ko-KR" dirty="0"/>
              <a:t>(SMA, EMA, RSI, MACD, ATR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를 계산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Feature scaling: </a:t>
            </a:r>
            <a:r>
              <a:rPr lang="en-US" altLang="ko-KR" dirty="0" err="1"/>
              <a:t>StandardScaler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384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F8A05-8005-8E15-CC3C-C8FF9540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Trading</a:t>
            </a:r>
            <a:r>
              <a:rPr lang="ko-KR" altLang="en-US" dirty="0"/>
              <a:t> 환경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76424-1E38-6B8E-E15C-30FC6B61E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121"/>
            <a:ext cx="10515600" cy="4486275"/>
          </a:xfrm>
        </p:spPr>
        <p:txBody>
          <a:bodyPr>
            <a:noAutofit/>
          </a:bodyPr>
          <a:lstStyle/>
          <a:p>
            <a:r>
              <a:rPr lang="en-US" altLang="ko-KR" dirty="0"/>
              <a:t>Episode</a:t>
            </a:r>
          </a:p>
          <a:p>
            <a:pPr lvl="1"/>
            <a:r>
              <a:rPr lang="ko-KR" altLang="en-US" dirty="0"/>
              <a:t>하루 </a:t>
            </a:r>
            <a:r>
              <a:rPr lang="en-US" altLang="ko-KR" dirty="0"/>
              <a:t>(or </a:t>
            </a:r>
            <a:r>
              <a:rPr lang="ko-KR" altLang="en-US" dirty="0"/>
              <a:t>한 캔들</a:t>
            </a:r>
            <a:r>
              <a:rPr lang="en-US" altLang="ko-KR" dirty="0"/>
              <a:t>)</a:t>
            </a:r>
            <a:r>
              <a:rPr lang="ko-KR" altLang="en-US" dirty="0"/>
              <a:t>단위로 </a:t>
            </a:r>
            <a:r>
              <a:rPr lang="en-US" altLang="ko-KR" dirty="0"/>
              <a:t>step </a:t>
            </a:r>
            <a:r>
              <a:rPr lang="ko-KR" altLang="en-US" dirty="0"/>
              <a:t>진행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episode = N day(train), </a:t>
            </a:r>
            <a:r>
              <a:rPr lang="ko-KR" altLang="en-US" dirty="0"/>
              <a:t>평가 시 전체 기간 사용</a:t>
            </a:r>
            <a:endParaRPr lang="en-US" altLang="ko-KR" dirty="0"/>
          </a:p>
          <a:p>
            <a:r>
              <a:rPr lang="ko-KR" altLang="en-US" dirty="0"/>
              <a:t>포트폴리오</a:t>
            </a:r>
            <a:endParaRPr lang="en-US" altLang="ko-KR" dirty="0"/>
          </a:p>
          <a:p>
            <a:pPr lvl="1"/>
            <a:r>
              <a:rPr lang="ko-KR" altLang="en-US" dirty="0"/>
              <a:t>자산</a:t>
            </a:r>
            <a:r>
              <a:rPr lang="en-US" altLang="ko-KR" dirty="0"/>
              <a:t>: [</a:t>
            </a:r>
            <a:r>
              <a:rPr lang="ko-KR" altLang="en-US" dirty="0"/>
              <a:t>현금 </a:t>
            </a:r>
            <a:r>
              <a:rPr lang="en-US" altLang="ko-KR" dirty="0"/>
              <a:t>KRW, ETH]</a:t>
            </a:r>
          </a:p>
          <a:p>
            <a:pPr lvl="1"/>
            <a:r>
              <a:rPr lang="ko-KR" altLang="en-US" dirty="0"/>
              <a:t>초기자본</a:t>
            </a:r>
            <a:r>
              <a:rPr lang="en-US" altLang="ko-KR" dirty="0"/>
              <a:t>: 1,000,000 KRW</a:t>
            </a:r>
          </a:p>
          <a:p>
            <a:r>
              <a:rPr lang="ko-KR" altLang="en-US" dirty="0"/>
              <a:t>거래 비용</a:t>
            </a:r>
            <a:endParaRPr lang="en-US" altLang="ko-KR" dirty="0"/>
          </a:p>
          <a:p>
            <a:pPr lvl="1"/>
            <a:r>
              <a:rPr lang="ko-KR" altLang="en-US" dirty="0" err="1"/>
              <a:t>슬리피지</a:t>
            </a:r>
            <a:r>
              <a:rPr lang="en-US" altLang="ko-KR" dirty="0"/>
              <a:t>/</a:t>
            </a:r>
            <a:r>
              <a:rPr lang="ko-KR" altLang="en-US" dirty="0"/>
              <a:t>수수료</a:t>
            </a:r>
            <a:r>
              <a:rPr lang="en-US" altLang="ko-KR" dirty="0"/>
              <a:t>: </a:t>
            </a:r>
            <a:r>
              <a:rPr lang="ko-KR" altLang="en-US" dirty="0"/>
              <a:t>예</a:t>
            </a:r>
            <a:r>
              <a:rPr lang="en-US" altLang="ko-KR" dirty="0"/>
              <a:t>) 0.05%</a:t>
            </a:r>
            <a:r>
              <a:rPr lang="ko-KR" altLang="en-US" dirty="0"/>
              <a:t>씩</a:t>
            </a:r>
            <a:endParaRPr lang="en-US" altLang="ko-KR" dirty="0"/>
          </a:p>
          <a:p>
            <a:r>
              <a:rPr lang="ko-KR" altLang="en-US" dirty="0"/>
              <a:t>제약</a:t>
            </a:r>
            <a:endParaRPr lang="en-US" altLang="ko-KR" dirty="0"/>
          </a:p>
          <a:p>
            <a:pPr lvl="1"/>
            <a:r>
              <a:rPr lang="ko-KR" altLang="en-US" dirty="0"/>
              <a:t>최대 거래 비율</a:t>
            </a:r>
            <a:r>
              <a:rPr lang="en-US" altLang="ko-KR" dirty="0"/>
              <a:t>: </a:t>
            </a:r>
            <a:r>
              <a:rPr lang="en-US" altLang="ko-KR" dirty="0" err="1"/>
              <a:t>max_trade_frac</a:t>
            </a:r>
            <a:r>
              <a:rPr lang="en-US" altLang="ko-KR" dirty="0"/>
              <a:t> = 0.3 (</a:t>
            </a:r>
            <a:r>
              <a:rPr lang="ko-KR" altLang="en-US" dirty="0"/>
              <a:t>한 번에 포지션 </a:t>
            </a:r>
            <a:r>
              <a:rPr lang="en-US" altLang="ko-KR" dirty="0"/>
              <a:t>30%</a:t>
            </a:r>
            <a:r>
              <a:rPr lang="ko-KR" altLang="en-US" dirty="0"/>
              <a:t>만 조정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레버리지 없음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372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D77F8-7C73-DA9F-35EA-F17B9340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State/Action/Reward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055A6F5-A5A3-0307-D884-2E0418062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State: </a:t>
                </a:r>
                <a:r>
                  <a:rPr lang="ko-KR" altLang="en-US" dirty="0"/>
                  <a:t>시점 </a:t>
                </a:r>
                <a:r>
                  <a:rPr lang="en-US" altLang="ko-KR" dirty="0"/>
                  <a:t>t</a:t>
                </a:r>
                <a:r>
                  <a:rPr lang="ko-KR" altLang="en-US" dirty="0"/>
                  <a:t>에서의 상태 벡터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약 </a:t>
                </a:r>
                <a:r>
                  <a:rPr lang="en-US" altLang="ko-KR" dirty="0"/>
                  <a:t>15</a:t>
                </a:r>
                <a:r>
                  <a:rPr lang="ko-KR" altLang="en-US" dirty="0"/>
                  <a:t>차원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/>
                  <a:t>기술지표</a:t>
                </a:r>
                <a:r>
                  <a:rPr lang="en-US" altLang="ko-KR" dirty="0"/>
                  <a:t>(SMA/EMA/RSI/MACD/ATR </a:t>
                </a:r>
                <a:r>
                  <a:rPr lang="ko-KR" altLang="en-US" dirty="0"/>
                  <a:t>등</a:t>
                </a:r>
                <a:r>
                  <a:rPr lang="en-US" altLang="ko-KR" dirty="0"/>
                  <a:t>) + </a:t>
                </a:r>
                <a:r>
                  <a:rPr lang="ko-KR" altLang="en-US" dirty="0"/>
                  <a:t>포지션 정보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현금</a:t>
                </a:r>
                <a:r>
                  <a:rPr lang="en-US" altLang="ko-KR" dirty="0"/>
                  <a:t>/ETH </a:t>
                </a:r>
                <a:r>
                  <a:rPr lang="ko-KR" altLang="en-US" dirty="0"/>
                  <a:t>비율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포함</a:t>
                </a:r>
                <a:endParaRPr lang="en-US" altLang="ko-KR" dirty="0"/>
              </a:p>
              <a:p>
                <a:r>
                  <a:rPr lang="en-US" altLang="ko-KR" dirty="0"/>
                  <a:t>Action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∈[−1, 1]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/>
                  <a:t>음수 매도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양수 매수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max_trade_frac</a:t>
                </a:r>
                <a:r>
                  <a:rPr lang="ko-KR" altLang="en-US" dirty="0"/>
                  <a:t>으로 실제 거래 비율 제한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en-US" altLang="ko-KR" dirty="0"/>
                  <a:t>Reward: </a:t>
                </a:r>
                <a:r>
                  <a:rPr lang="ko-KR" altLang="en-US" dirty="0"/>
                  <a:t>한 </a:t>
                </a:r>
                <a:r>
                  <a:rPr lang="en-US" altLang="ko-KR" dirty="0"/>
                  <a:t>step </a:t>
                </a:r>
                <a:r>
                  <a:rPr lang="ko-KR" altLang="en-US" dirty="0"/>
                  <a:t>포트폴리오 수익률</a:t>
                </a:r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𝐸𝑞𝑢𝑖𝑡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𝐸𝑞𝑢𝑖𝑡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𝐸𝑞𝑢𝑖𝑡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055A6F5-A5A3-0307-D884-2E0418062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0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25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259C-4326-A771-28A5-F410859A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PPO </a:t>
            </a:r>
            <a:r>
              <a:rPr lang="ko-KR" altLang="en-US" dirty="0"/>
              <a:t>선택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F9AC0C-4156-5786-47C7-D2002EAF7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695"/>
            <a:ext cx="10515600" cy="4351338"/>
          </a:xfrm>
        </p:spPr>
        <p:txBody>
          <a:bodyPr/>
          <a:lstStyle/>
          <a:p>
            <a:r>
              <a:rPr lang="ko-KR" altLang="en-US" dirty="0"/>
              <a:t>연속 행동을 그대로 다루기 위해</a:t>
            </a:r>
            <a:endParaRPr lang="en-US" altLang="ko-KR" dirty="0"/>
          </a:p>
          <a:p>
            <a:pPr lvl="1"/>
            <a:r>
              <a:rPr lang="ko-KR" altLang="en-US" dirty="0"/>
              <a:t>행동이 몇 </a:t>
            </a:r>
            <a:r>
              <a:rPr lang="en-US" altLang="ko-KR" dirty="0"/>
              <a:t>%</a:t>
            </a:r>
            <a:r>
              <a:rPr lang="ko-KR" altLang="en-US" dirty="0"/>
              <a:t>를 매수</a:t>
            </a:r>
            <a:r>
              <a:rPr lang="en-US" altLang="ko-KR" dirty="0"/>
              <a:t>/ </a:t>
            </a:r>
            <a:r>
              <a:rPr lang="ko-KR" altLang="en-US" dirty="0"/>
              <a:t>매도할지 </a:t>
            </a:r>
            <a:r>
              <a:rPr lang="ko-KR" altLang="en-US" dirty="0" err="1"/>
              <a:t>연속값</a:t>
            </a:r>
            <a:endParaRPr lang="en-US" altLang="ko-KR" dirty="0"/>
          </a:p>
          <a:p>
            <a:pPr lvl="1"/>
            <a:r>
              <a:rPr lang="en-US" altLang="ko-KR" dirty="0"/>
              <a:t>PPO</a:t>
            </a:r>
            <a:r>
              <a:rPr lang="ko-KR" altLang="en-US" dirty="0"/>
              <a:t>의 </a:t>
            </a:r>
            <a:r>
              <a:rPr lang="en-US" altLang="ko-KR" dirty="0"/>
              <a:t>Gaussian policy</a:t>
            </a:r>
            <a:r>
              <a:rPr lang="ko-KR" altLang="en-US" dirty="0"/>
              <a:t>로 연속 행동 직접 </a:t>
            </a:r>
            <a:r>
              <a:rPr lang="en-US" altLang="ko-KR" dirty="0"/>
              <a:t>sampling, </a:t>
            </a:r>
            <a:r>
              <a:rPr lang="ko-KR" altLang="en-US" dirty="0"/>
              <a:t>이산화 불필요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Trading </a:t>
            </a:r>
            <a:r>
              <a:rPr lang="ko-KR" altLang="en-US" dirty="0"/>
              <a:t>환경 안정성</a:t>
            </a:r>
            <a:endParaRPr lang="en-US" altLang="ko-KR" dirty="0"/>
          </a:p>
          <a:p>
            <a:pPr lvl="1"/>
            <a:r>
              <a:rPr lang="ko-KR" altLang="en-US" dirty="0"/>
              <a:t>금융 보상은 변동이 크고</a:t>
            </a:r>
            <a:r>
              <a:rPr lang="en-US" altLang="ko-KR" dirty="0"/>
              <a:t>, </a:t>
            </a:r>
            <a:r>
              <a:rPr lang="ko-KR" altLang="en-US" dirty="0"/>
              <a:t>잘못된 업데이트 누적 시 성능이 쉽게 붕괴</a:t>
            </a:r>
            <a:endParaRPr lang="en-US" altLang="ko-KR" dirty="0"/>
          </a:p>
          <a:p>
            <a:pPr lvl="1"/>
            <a:r>
              <a:rPr lang="en-US" altLang="ko-KR" dirty="0"/>
              <a:t>PPO</a:t>
            </a:r>
            <a:r>
              <a:rPr lang="ko-KR" altLang="en-US" dirty="0"/>
              <a:t>의 </a:t>
            </a:r>
            <a:r>
              <a:rPr lang="en-US" altLang="ko-KR" dirty="0"/>
              <a:t>clipping</a:t>
            </a:r>
            <a:r>
              <a:rPr lang="ko-KR" altLang="en-US" dirty="0"/>
              <a:t>으로 이를 보완</a:t>
            </a:r>
            <a:r>
              <a:rPr lang="en-US" altLang="ko-KR" dirty="0"/>
              <a:t>, </a:t>
            </a:r>
            <a:r>
              <a:rPr lang="ko-KR" altLang="en-US" dirty="0"/>
              <a:t>학습 안정성 확보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997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D452D-3641-771B-84A9-E4ED9F85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matric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430FE1D-40F3-3BA5-76DF-CDB80EF363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총 수익률 </a:t>
                </a:r>
                <a:r>
                  <a:rPr lang="en-US" altLang="ko-KR" dirty="0"/>
                  <a:t>(Total Return, %)</a:t>
                </a:r>
              </a:p>
              <a:p>
                <a:endParaRPr lang="en-US" altLang="ko-KR" dirty="0"/>
              </a:p>
              <a:p>
                <a:pPr lvl="1"/>
                <a:r>
                  <a:rPr lang="ko-KR" altLang="en-US" dirty="0"/>
                  <a:t>초기 자본 대비 최종 포트폴리오 가치의 증가율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𝐸𝑞𝑢𝑖𝑡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 - 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𝐸𝑞𝑢𝑖𝑡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𝐸𝑞𝑢𝑖𝑡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* 100%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PPO </a:t>
                </a:r>
                <a:r>
                  <a:rPr lang="ko-KR" altLang="en-US" dirty="0"/>
                  <a:t>에이전트가 단순 </a:t>
                </a:r>
                <a:r>
                  <a:rPr lang="en-US" altLang="ko-KR" dirty="0"/>
                  <a:t>Buy &amp; Hold</a:t>
                </a:r>
                <a:r>
                  <a:rPr lang="ko-KR" altLang="en-US" dirty="0"/>
                  <a:t>보다 얼마나 더 많이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혹은 덜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벌었는지 직접적으로 비교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430FE1D-40F3-3BA5-76DF-CDB80EF363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A8A1D-F24D-CCF3-16AE-25D8BF21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matric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90A06BC-341F-7C88-0750-7AFEE8EB3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Sharpe Ratio</a:t>
                </a:r>
              </a:p>
              <a:p>
                <a:endParaRPr lang="en-US" altLang="ko-KR" dirty="0"/>
              </a:p>
              <a:p>
                <a:pPr lvl="1"/>
                <a:r>
                  <a:rPr lang="ko-KR" altLang="en-US" dirty="0"/>
                  <a:t>위험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변동성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을 감안한 수익률 지표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평균 초과 수익 </a:t>
                </a:r>
                <a:r>
                  <a:rPr lang="en-US" altLang="ko-KR" dirty="0"/>
                  <a:t>/ </a:t>
                </a:r>
                <a:r>
                  <a:rPr lang="ko-KR" altLang="en-US" dirty="0"/>
                  <a:t>수익률 표준편차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같은 수익률이라도 변동성이 낮을수록 더 높은 </a:t>
                </a:r>
                <a:r>
                  <a:rPr lang="en-US" altLang="ko-KR" dirty="0"/>
                  <a:t>Sharpe 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   (</a:t>
                </a:r>
                <a:r>
                  <a:rPr lang="ko-KR" altLang="en-US" dirty="0"/>
                  <a:t>얼마나 더 안정적으로 벌었는가를 평가</a:t>
                </a:r>
                <a:r>
                  <a:rPr lang="en-US" altLang="ko-KR" dirty="0"/>
                  <a:t>)</a:t>
                </a:r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𝑆h𝑎𝑟𝑝𝑒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ba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ba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무위험이자율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≈ 0 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가정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b="0" dirty="0"/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pPr marL="457200" lvl="1" indent="0">
                  <a:buNone/>
                </a:pPr>
                <a14:m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90A06BC-341F-7C88-0750-7AFEE8EB3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50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B54EE-1CC3-74F5-5CE8-5E1A502F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matric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E91677-FC8A-CBCF-8E3C-C9BD230BA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Max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Drawdown (MDD, %)</a:t>
                </a:r>
              </a:p>
              <a:p>
                <a:pPr lvl="1"/>
                <a:r>
                  <a:rPr lang="ko-KR" altLang="en-US" dirty="0"/>
                  <a:t>투자 기간 동안 발생한 최대 낙폭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시간 </a:t>
                </a:r>
                <a:r>
                  <a:rPr lang="en-US" altLang="ko-KR" dirty="0"/>
                  <a:t>t</a:t>
                </a:r>
                <a:r>
                  <a:rPr lang="ko-KR" altLang="en-US" dirty="0"/>
                  <a:t>에서 포트폴리오 가치를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  </a:t>
                </a:r>
                <a:r>
                  <a:rPr lang="ko-KR" altLang="en-US" dirty="0"/>
                  <a:t>그 시점까지의 최고점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라고 하면</a:t>
                </a:r>
                <a:r>
                  <a:rPr lang="en-US" altLang="ko-KR" dirty="0"/>
                  <a:t>,</a:t>
                </a:r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𝐷𝑟𝑎𝑤𝑑𝑜𝑤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𝑝𝑒𝑎𝑘</m:t>
                              </m:r>
                            </m:sup>
                          </m:sSub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𝑝𝑒𝑎𝑘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𝑀𝐷𝐷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𝐷𝑟𝑎𝑤𝑑𝑜𝑤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100% </m:t>
                          </m:r>
                        </m:e>
                      </m:func>
                    </m:oMath>
                  </m:oMathPara>
                </a14:m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pPr lvl="1"/>
                <a:r>
                  <a:rPr lang="en-US" altLang="ko-KR" dirty="0"/>
                  <a:t>Trading </a:t>
                </a:r>
                <a:r>
                  <a:rPr lang="ko-KR" altLang="en-US" dirty="0"/>
                  <a:t>전략이 최악의 순간에 얼마나 크게 깨지는지 보는 지표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E91677-FC8A-CBCF-8E3C-C9BD230BA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63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8F63C-04D6-6238-0779-334F2478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PPO</a:t>
            </a:r>
            <a:r>
              <a:rPr lang="ko-KR" altLang="en-US" dirty="0"/>
              <a:t>및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32E2BA-FA9E-3251-27F2-9181D85A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62" y="1690688"/>
            <a:ext cx="10913076" cy="466725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Baseline</a:t>
            </a:r>
            <a:r>
              <a:rPr lang="ko-KR" altLang="en-US" dirty="0"/>
              <a:t> </a:t>
            </a:r>
            <a:r>
              <a:rPr lang="en-US" altLang="ko-KR" dirty="0"/>
              <a:t>PPO</a:t>
            </a:r>
            <a:r>
              <a:rPr lang="ko-KR" altLang="en-US" dirty="0"/>
              <a:t> 설정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Clipping range: 0.05</a:t>
            </a:r>
          </a:p>
          <a:p>
            <a:pPr lvl="1"/>
            <a:r>
              <a:rPr lang="en-US" altLang="ko-KR" dirty="0"/>
              <a:t>Entropy coefficient: 0.03</a:t>
            </a:r>
          </a:p>
          <a:p>
            <a:pPr lvl="1"/>
            <a:r>
              <a:rPr lang="en-US" altLang="ko-KR" dirty="0"/>
              <a:t>Learning rate: 3e-4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이를 기준으로 다음과 같이 한 가지씩 변경한 </a:t>
            </a:r>
            <a:r>
              <a:rPr lang="en-US" altLang="ko-KR" sz="2400" dirty="0"/>
              <a:t>5</a:t>
            </a:r>
            <a:r>
              <a:rPr lang="ko-KR" altLang="en-US" sz="2400" dirty="0"/>
              <a:t>개의 변형 실험을 추가로 시행 </a:t>
            </a:r>
            <a:r>
              <a:rPr lang="en-US" altLang="ko-KR" sz="2400" dirty="0"/>
              <a:t>(+ random seed)</a:t>
            </a:r>
          </a:p>
          <a:p>
            <a:r>
              <a:rPr lang="en-US" altLang="ko-KR" sz="2400" dirty="0" err="1"/>
              <a:t>high_entropy</a:t>
            </a:r>
            <a:r>
              <a:rPr lang="en-US" altLang="ko-KR" sz="2400" dirty="0"/>
              <a:t>: entropy = 0.06 (</a:t>
            </a:r>
            <a:r>
              <a:rPr lang="ko-KR" altLang="en-US" sz="2400" dirty="0"/>
              <a:t>탐색 증가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 err="1"/>
              <a:t>low_entropy</a:t>
            </a:r>
            <a:r>
              <a:rPr lang="en-US" altLang="ko-KR" sz="2400" dirty="0"/>
              <a:t>: entropy = 0.00 (</a:t>
            </a:r>
            <a:r>
              <a:rPr lang="ko-KR" altLang="en-US" sz="2400" dirty="0"/>
              <a:t>탐색 감소</a:t>
            </a:r>
            <a:r>
              <a:rPr lang="en-US" altLang="ko-KR" sz="2400" dirty="0"/>
              <a:t>, </a:t>
            </a:r>
            <a:r>
              <a:rPr lang="ko-KR" altLang="en-US" sz="2400" dirty="0"/>
              <a:t>보다 결정적인 정책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 err="1"/>
              <a:t>large_clip</a:t>
            </a:r>
            <a:r>
              <a:rPr lang="en-US" altLang="ko-KR" sz="2400" dirty="0"/>
              <a:t>: clip = 0.10 (</a:t>
            </a:r>
            <a:r>
              <a:rPr lang="ko-KR" altLang="en-US" sz="2400" dirty="0"/>
              <a:t>정책 업데이트 폭 확대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 err="1"/>
              <a:t>small_clip</a:t>
            </a:r>
            <a:r>
              <a:rPr lang="en-US" altLang="ko-KR" sz="2400" dirty="0"/>
              <a:t>: clip = 0.02 (</a:t>
            </a:r>
            <a:r>
              <a:rPr lang="ko-KR" altLang="en-US" sz="2400" dirty="0"/>
              <a:t>정책 업데이트 폭 축소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 보수적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 err="1"/>
              <a:t>low_lr</a:t>
            </a:r>
            <a:r>
              <a:rPr lang="en-US" altLang="ko-KR" sz="2400" dirty="0"/>
              <a:t>: learning rate = 1e-4 (</a:t>
            </a:r>
            <a:r>
              <a:rPr lang="ko-KR" altLang="en-US" sz="2400" dirty="0"/>
              <a:t>학습 속도 감소</a:t>
            </a:r>
            <a:r>
              <a:rPr lang="en-US" altLang="ko-KR" sz="2400" dirty="0"/>
              <a:t>, </a:t>
            </a:r>
            <a:r>
              <a:rPr lang="ko-KR" altLang="en-US" sz="2400" dirty="0"/>
              <a:t>더 안정적인 업데이트 기대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3036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FD62A-B6D9-9214-4FFC-163D0B86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r>
              <a:rPr lang="en-US" altLang="ko-KR" dirty="0"/>
              <a:t>- Baseline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93D42F7-50E5-F96F-6733-8F1878FE9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4819" y="1634256"/>
            <a:ext cx="4792467" cy="3589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FF4B83-F6D0-4C20-C64A-3E37E7D82339}"/>
              </a:ext>
            </a:extLst>
          </p:cNvPr>
          <p:cNvSpPr txBox="1"/>
          <p:nvPr/>
        </p:nvSpPr>
        <p:spPr>
          <a:xfrm>
            <a:off x="372867" y="1634256"/>
            <a:ext cx="61884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실험 설정</a:t>
            </a:r>
            <a:r>
              <a:rPr lang="en-US" altLang="ko-KR" dirty="0"/>
              <a:t>: </a:t>
            </a:r>
            <a:r>
              <a:rPr lang="en-US" altLang="ko-KR" dirty="0" err="1"/>
              <a:t>Github</a:t>
            </a:r>
            <a:r>
              <a:rPr lang="en-US" altLang="ko-KR" dirty="0"/>
              <a:t> link</a:t>
            </a:r>
            <a:r>
              <a:rPr lang="ko-KR" altLang="en-US" dirty="0"/>
              <a:t>에 업로드 되어있는 </a:t>
            </a:r>
            <a:r>
              <a:rPr lang="en-US" altLang="ko-KR" dirty="0" err="1"/>
              <a:t>ipynb</a:t>
            </a:r>
            <a:r>
              <a:rPr lang="ko-KR" altLang="en-US" dirty="0"/>
              <a:t>와 동일한 </a:t>
            </a:r>
            <a:r>
              <a:rPr lang="en-US" altLang="ko-KR" dirty="0"/>
              <a:t>setting</a:t>
            </a:r>
          </a:p>
          <a:p>
            <a:endParaRPr lang="en-US" altLang="ko-KR" dirty="0"/>
          </a:p>
          <a:p>
            <a:r>
              <a:rPr lang="ko-KR" altLang="en-US" dirty="0"/>
              <a:t>행동</a:t>
            </a:r>
            <a:r>
              <a:rPr lang="en-US" altLang="ko-KR" dirty="0"/>
              <a:t>/ </a:t>
            </a:r>
            <a:r>
              <a:rPr lang="ko-KR" altLang="en-US" dirty="0"/>
              <a:t>리스크</a:t>
            </a:r>
            <a:r>
              <a:rPr lang="en-US" altLang="ko-KR" dirty="0"/>
              <a:t> </a:t>
            </a:r>
            <a:r>
              <a:rPr lang="ko-KR" altLang="en-US" dirty="0"/>
              <a:t>특성 해석</a:t>
            </a:r>
            <a:endParaRPr lang="en-US" altLang="ko-KR" dirty="0"/>
          </a:p>
          <a:p>
            <a:r>
              <a:rPr lang="en-US" altLang="ko-KR" dirty="0"/>
              <a:t>  - Action Distribution</a:t>
            </a:r>
          </a:p>
          <a:p>
            <a:r>
              <a:rPr lang="en-US" altLang="ko-KR" dirty="0"/>
              <a:t>     - </a:t>
            </a:r>
            <a:r>
              <a:rPr lang="ko-KR" altLang="en-US" dirty="0"/>
              <a:t>대부분의 행동이 </a:t>
            </a:r>
            <a:r>
              <a:rPr lang="en-US" altLang="ko-KR" dirty="0"/>
              <a:t>0 </a:t>
            </a:r>
            <a:r>
              <a:rPr lang="ko-KR" altLang="en-US" dirty="0"/>
              <a:t>이하에 몰려 있음</a:t>
            </a:r>
            <a:endParaRPr lang="en-US" altLang="ko-KR" dirty="0"/>
          </a:p>
          <a:p>
            <a:r>
              <a:rPr lang="en-US" altLang="ko-KR" dirty="0"/>
              <a:t>       (</a:t>
            </a:r>
            <a:r>
              <a:rPr lang="ko-KR" altLang="en-US" dirty="0"/>
              <a:t>매도</a:t>
            </a:r>
            <a:r>
              <a:rPr lang="en-US" altLang="ko-KR" dirty="0"/>
              <a:t>/ </a:t>
            </a:r>
            <a:r>
              <a:rPr lang="ko-KR" altLang="en-US" dirty="0"/>
              <a:t>현금 포지션 집중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- </a:t>
            </a:r>
            <a:r>
              <a:rPr lang="ko-KR" altLang="en-US" dirty="0"/>
              <a:t>상승장을 강하게 쫓기보다 </a:t>
            </a:r>
            <a:endParaRPr lang="en-US" altLang="ko-KR" dirty="0"/>
          </a:p>
          <a:p>
            <a:r>
              <a:rPr lang="en-US" altLang="ko-KR" dirty="0"/>
              <a:t>        </a:t>
            </a:r>
            <a:r>
              <a:rPr lang="ko-KR" altLang="en-US" dirty="0" err="1"/>
              <a:t>하락장</a:t>
            </a:r>
            <a:r>
              <a:rPr lang="ko-KR" altLang="en-US" dirty="0"/>
              <a:t> 회피 </a:t>
            </a:r>
            <a:r>
              <a:rPr lang="en-US" altLang="ko-KR" dirty="0"/>
              <a:t>+ </a:t>
            </a:r>
            <a:r>
              <a:rPr lang="ko-KR" altLang="en-US" dirty="0"/>
              <a:t>현금 비중유지 전략에 가깝게 학습</a:t>
            </a:r>
            <a:endParaRPr lang="en-US" altLang="ko-KR" dirty="0"/>
          </a:p>
          <a:p>
            <a:r>
              <a:rPr lang="en-US" altLang="ko-KR" dirty="0"/>
              <a:t>  - Daily Return Distribution</a:t>
            </a:r>
          </a:p>
          <a:p>
            <a:r>
              <a:rPr lang="en-US" altLang="ko-KR" dirty="0"/>
              <a:t>     - </a:t>
            </a:r>
            <a:r>
              <a:rPr lang="ko-KR" altLang="en-US" dirty="0"/>
              <a:t>일간</a:t>
            </a:r>
            <a:r>
              <a:rPr lang="en-US" altLang="ko-KR" dirty="0"/>
              <a:t> </a:t>
            </a:r>
            <a:r>
              <a:rPr lang="ko-KR" altLang="en-US" dirty="0"/>
              <a:t>수익 대부분이 </a:t>
            </a:r>
            <a:r>
              <a:rPr lang="en-US" altLang="ko-KR" dirty="0"/>
              <a:t>0%</a:t>
            </a:r>
            <a:r>
              <a:rPr lang="ko-KR" altLang="en-US" dirty="0"/>
              <a:t> 근처에 집중</a:t>
            </a:r>
            <a:endParaRPr lang="en-US" altLang="ko-KR" dirty="0"/>
          </a:p>
          <a:p>
            <a:r>
              <a:rPr lang="en-US" altLang="ko-KR" dirty="0"/>
              <a:t>     - </a:t>
            </a:r>
            <a:r>
              <a:rPr lang="ko-KR" altLang="en-US" dirty="0"/>
              <a:t>포지션을 자주 변경하기보다 대부분 관망</a:t>
            </a:r>
            <a:endParaRPr lang="en-US" altLang="ko-KR" dirty="0"/>
          </a:p>
          <a:p>
            <a:r>
              <a:rPr lang="en-US" altLang="ko-KR" dirty="0"/>
              <a:t>     - </a:t>
            </a:r>
            <a:r>
              <a:rPr lang="ko-KR" altLang="en-US" dirty="0"/>
              <a:t>뒤늦게 진입하는 형태</a:t>
            </a:r>
            <a:endParaRPr lang="en-US" altLang="ko-KR" dirty="0"/>
          </a:p>
          <a:p>
            <a:r>
              <a:rPr lang="en-US" altLang="ko-KR" dirty="0"/>
              <a:t>  - Drawdown</a:t>
            </a:r>
          </a:p>
          <a:p>
            <a:r>
              <a:rPr lang="en-US" altLang="ko-KR" dirty="0"/>
              <a:t>     - </a:t>
            </a:r>
            <a:r>
              <a:rPr lang="ko-KR" altLang="en-US" dirty="0"/>
              <a:t>중간</a:t>
            </a:r>
            <a:r>
              <a:rPr lang="en-US" altLang="ko-KR" dirty="0"/>
              <a:t> </a:t>
            </a:r>
            <a:r>
              <a:rPr lang="ko-KR" altLang="en-US" dirty="0"/>
              <a:t>구간에서 약 </a:t>
            </a:r>
            <a:r>
              <a:rPr lang="en-US" altLang="ko-KR" dirty="0"/>
              <a:t>-25% </a:t>
            </a:r>
            <a:r>
              <a:rPr lang="ko-KR" altLang="en-US" dirty="0"/>
              <a:t>수준의 깊은 </a:t>
            </a:r>
            <a:r>
              <a:rPr lang="en-US" altLang="ko-KR" dirty="0"/>
              <a:t>DD</a:t>
            </a:r>
            <a:r>
              <a:rPr lang="ko-KR" altLang="en-US" dirty="0"/>
              <a:t>구간 존재</a:t>
            </a:r>
            <a:endParaRPr lang="en-US" altLang="ko-KR" dirty="0"/>
          </a:p>
          <a:p>
            <a:r>
              <a:rPr lang="en-US" altLang="ko-KR" dirty="0"/>
              <a:t>     - </a:t>
            </a:r>
            <a:r>
              <a:rPr lang="ko-KR" altLang="en-US" dirty="0"/>
              <a:t>계좌가 한 번 크게 흔들린 뒤 회복하는 패턴 관찰</a:t>
            </a:r>
          </a:p>
        </p:txBody>
      </p:sp>
    </p:spTree>
    <p:extLst>
      <p:ext uri="{BB962C8B-B14F-4D97-AF65-F5344CB8AC3E}">
        <p14:creationId xmlns:p14="http://schemas.microsoft.com/office/powerpoint/2010/main" val="3526588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B0361-F9DA-8DB1-091B-7A0ACA47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r>
              <a:rPr lang="en-US" altLang="ko-KR" dirty="0"/>
              <a:t>- Baseline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DE0DA-7D12-25B6-2EBB-7D9263A7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16" y="1690688"/>
            <a:ext cx="6035166" cy="4802187"/>
          </a:xfrm>
        </p:spPr>
        <p:txBody>
          <a:bodyPr>
            <a:normAutofit/>
          </a:bodyPr>
          <a:lstStyle/>
          <a:p>
            <a:r>
              <a:rPr lang="en-US" altLang="ko-KR" dirty="0"/>
              <a:t>Trade History on Policy Chart</a:t>
            </a:r>
          </a:p>
          <a:p>
            <a:pPr lvl="1"/>
            <a:r>
              <a:rPr lang="en-US" altLang="ko-KR" sz="2000" dirty="0"/>
              <a:t>ETH </a:t>
            </a:r>
            <a:r>
              <a:rPr lang="ko-KR" altLang="en-US" sz="2000" dirty="0"/>
              <a:t>가격 그래프 위 삼각형 마커로 매수</a:t>
            </a:r>
            <a:r>
              <a:rPr lang="en-US" altLang="ko-KR" sz="2000" dirty="0"/>
              <a:t>/</a:t>
            </a:r>
            <a:r>
              <a:rPr lang="ko-KR" altLang="en-US" sz="2000" dirty="0"/>
              <a:t>매도 시점 표시</a:t>
            </a:r>
            <a:endParaRPr lang="en-US" altLang="ko-KR" sz="2000" dirty="0"/>
          </a:p>
          <a:p>
            <a:pPr lvl="1"/>
            <a:r>
              <a:rPr lang="ko-KR" altLang="en-US" sz="2000" dirty="0"/>
              <a:t>전체적으로 가격이 크게 움직이는 구간에서만 매수</a:t>
            </a:r>
            <a:r>
              <a:rPr lang="en-US" altLang="ko-KR" sz="2000" dirty="0"/>
              <a:t>/</a:t>
            </a:r>
            <a:r>
              <a:rPr lang="ko-KR" altLang="en-US" sz="2000" dirty="0"/>
              <a:t>매도 밀집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 </a:t>
            </a:r>
            <a:r>
              <a:rPr lang="ko-KR" altLang="en-US" sz="2000" dirty="0">
                <a:sym typeface="Wingdings" panose="05000000000000000000" pitchFamily="2" charset="2"/>
              </a:rPr>
              <a:t>변동성이 커질 때 포지션을 잡고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가격이 안정될 때는 비교적 관망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하락 구간에서는 저점 부근 매수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단기 반등 시 매도하는 단기 스윙</a:t>
            </a:r>
            <a:r>
              <a:rPr lang="en-US" altLang="ko-KR" sz="2000" dirty="0">
                <a:sym typeface="Wingdings" panose="05000000000000000000" pitchFamily="2" charset="2"/>
              </a:rPr>
              <a:t>/</a:t>
            </a:r>
            <a:r>
              <a:rPr lang="ko-KR" altLang="en-US" sz="2000" dirty="0">
                <a:sym typeface="Wingdings" panose="05000000000000000000" pitchFamily="2" charset="2"/>
              </a:rPr>
              <a:t>단타형 전략에 가까움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/>
              <a:t>후반부에는 거의 매수 마커가 없음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목표 수익 도달 후 현금화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추가거래를 하지 않는 경향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 </a:t>
            </a:r>
            <a:r>
              <a:rPr lang="ko-KR" altLang="en-US" sz="2000" dirty="0">
                <a:sym typeface="Wingdings" panose="05000000000000000000" pitchFamily="2" charset="2"/>
              </a:rPr>
              <a:t>이로 인해 후반에서 </a:t>
            </a:r>
            <a:r>
              <a:rPr lang="en-US" altLang="ko-KR" sz="2000" dirty="0">
                <a:sym typeface="Wingdings" panose="05000000000000000000" pitchFamily="2" charset="2"/>
              </a:rPr>
              <a:t>KRW </a:t>
            </a:r>
            <a:r>
              <a:rPr lang="ko-KR" altLang="en-US" sz="2000" dirty="0">
                <a:sym typeface="Wingdings" panose="05000000000000000000" pitchFamily="2" charset="2"/>
              </a:rPr>
              <a:t>변화는 </a:t>
            </a:r>
            <a:r>
              <a:rPr lang="en-US" altLang="ko-KR" sz="2000" dirty="0">
                <a:sym typeface="Wingdings" panose="05000000000000000000" pitchFamily="2" charset="2"/>
              </a:rPr>
              <a:t>0</a:t>
            </a:r>
            <a:r>
              <a:rPr lang="ko-KR" altLang="en-US" sz="2000" dirty="0">
                <a:sym typeface="Wingdings" panose="05000000000000000000" pitchFamily="2" charset="2"/>
              </a:rPr>
              <a:t>에 수렴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6B68BC-8F42-4DEA-1BE9-8F10937A6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482" y="1825625"/>
            <a:ext cx="5839517" cy="24804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7533C6-0B96-18E1-EF6C-2712AF268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483" y="4537357"/>
            <a:ext cx="5839517" cy="163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8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F11E7-1D06-EF83-E86E-C28C61C6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r>
              <a:rPr lang="en-US" altLang="ko-KR" dirty="0"/>
              <a:t>- Baseline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927C44-55E1-33BC-BD55-94C5B99158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178" y="1544595"/>
            <a:ext cx="11163424" cy="4948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과도한 변동성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중간 구간에서 자산이 1.15M 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0.87M으로 크게 흔들림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손실 통제가 충분히 되지 않아, 드로우다운 리스크가 크다는 한계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ko-KR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거래 타이밍 편중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특정 기간(중간 구간)에 거래와 손익이 집중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앞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뒤 구간에서는 기회를 충분히 활용하지 못하고, 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후반 상승장에서도 일찍 거래를 중단하는 모습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ko-KR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단타 위주 구조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매수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매도가 촘촘하게 반복되어 짧은 구간의 노이즈를 많이 따라가는 경향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실전에서는 수수료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슬리피지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반영 시 성과가 더 악화될 수 있음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ko-KR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 조정 수익 한계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최종 수익률은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Buy&amp;Hold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보다 높지만,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Sharpe와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Drawdown을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함께 보면</a:t>
            </a:r>
            <a:b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 대비 수익 효율은 아직 부족하다고 해석 가능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424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D0ED2-56F6-2BE9-3C89-328B7910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  <a:r>
              <a:rPr lang="en-US" altLang="ko-KR" dirty="0"/>
              <a:t> – models</a:t>
            </a:r>
            <a:r>
              <a:rPr lang="ko-KR" altLang="en-US" dirty="0"/>
              <a:t>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74014-1EE1-AC7E-10D2-2CBDF16D7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934"/>
            <a:ext cx="10245811" cy="2502297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아래</a:t>
            </a:r>
            <a:r>
              <a:rPr lang="en-US" altLang="ko-KR" sz="2400" dirty="0"/>
              <a:t> </a:t>
            </a:r>
            <a:r>
              <a:rPr lang="ko-KR" altLang="en-US" sz="2400" dirty="0"/>
              <a:t>그래프와 표는 각 </a:t>
            </a:r>
            <a:r>
              <a:rPr lang="ko-KR" altLang="en-US" sz="2400" dirty="0" err="1"/>
              <a:t>하이퍼파라미터</a:t>
            </a:r>
            <a:r>
              <a:rPr lang="ko-KR" altLang="en-US" sz="2400" dirty="0"/>
              <a:t> 설정별 평균 </a:t>
            </a:r>
            <a:r>
              <a:rPr lang="en-US" altLang="ko-KR" sz="2400" dirty="0"/>
              <a:t>Sharpe </a:t>
            </a:r>
            <a:r>
              <a:rPr lang="ko-KR" altLang="en-US" sz="2400" dirty="0"/>
              <a:t>비율과 </a:t>
            </a:r>
            <a:r>
              <a:rPr lang="en-US" altLang="ko-KR" sz="2400" dirty="0"/>
              <a:t>95% </a:t>
            </a:r>
            <a:r>
              <a:rPr lang="ko-KR" altLang="en-US" sz="2400" dirty="0"/>
              <a:t>신뢰구간을 나타낸다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sz="2000" dirty="0"/>
              <a:t>전반적으로 </a:t>
            </a:r>
            <a:r>
              <a:rPr lang="en-US" altLang="ko-KR" sz="2000" dirty="0" err="1"/>
              <a:t>low_lr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low_entropy</a:t>
            </a:r>
            <a:r>
              <a:rPr lang="ko-KR" altLang="en-US" sz="2000" dirty="0"/>
              <a:t>가 </a:t>
            </a:r>
            <a:r>
              <a:rPr lang="en-US" altLang="ko-KR" sz="2000" dirty="0"/>
              <a:t>Sharpe </a:t>
            </a:r>
            <a:r>
              <a:rPr lang="ko-KR" altLang="en-US" sz="2000" dirty="0"/>
              <a:t>기준으로 가장 우수하다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특히 </a:t>
            </a:r>
            <a:r>
              <a:rPr lang="en-US" altLang="ko-KR" sz="2000" dirty="0" err="1"/>
              <a:t>low_entropy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low_lr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small_clip</a:t>
            </a:r>
            <a:r>
              <a:rPr lang="ko-KR" altLang="en-US" sz="2000" dirty="0"/>
              <a:t>의 </a:t>
            </a:r>
            <a:r>
              <a:rPr lang="en-US" altLang="ko-KR" sz="2000" dirty="0"/>
              <a:t>95% CI</a:t>
            </a:r>
            <a:r>
              <a:rPr lang="ko-KR" altLang="en-US" sz="2000" dirty="0"/>
              <a:t>는 </a:t>
            </a:r>
            <a:r>
              <a:rPr lang="en-US" altLang="ko-KR" sz="2000" dirty="0"/>
              <a:t>0</a:t>
            </a:r>
            <a:r>
              <a:rPr lang="ko-KR" altLang="en-US" sz="2000" dirty="0"/>
              <a:t>을 완전히 상회하여</a:t>
            </a:r>
            <a:r>
              <a:rPr lang="en-US" altLang="ko-KR" sz="2000" dirty="0"/>
              <a:t>, </a:t>
            </a:r>
            <a:r>
              <a:rPr lang="ko-KR" altLang="en-US" sz="2000" dirty="0"/>
              <a:t>이 세 설정은 통계적으로도 위험 조정 수익률이 양</a:t>
            </a:r>
            <a:r>
              <a:rPr lang="en-US" altLang="ko-KR" sz="2000" dirty="0"/>
              <a:t>(+)</a:t>
            </a:r>
            <a:r>
              <a:rPr lang="ko-KR" altLang="en-US" sz="2000" dirty="0"/>
              <a:t>이라고 볼 수 있다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baseline</a:t>
            </a:r>
            <a:r>
              <a:rPr lang="ko-KR" altLang="en-US" sz="2000" dirty="0"/>
              <a:t>과 </a:t>
            </a:r>
            <a:r>
              <a:rPr lang="en-US" altLang="ko-KR" sz="2000" dirty="0" err="1"/>
              <a:t>large_clip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high_entropy</a:t>
            </a:r>
            <a:r>
              <a:rPr lang="ko-KR" altLang="en-US" sz="2000" dirty="0"/>
              <a:t>는 </a:t>
            </a:r>
            <a:r>
              <a:rPr lang="en-US" altLang="ko-KR" sz="2000" dirty="0"/>
              <a:t>CI</a:t>
            </a:r>
            <a:r>
              <a:rPr lang="ko-KR" altLang="en-US" sz="2000" dirty="0"/>
              <a:t>에 </a:t>
            </a:r>
            <a:r>
              <a:rPr lang="en-US" altLang="ko-KR" sz="2000" dirty="0"/>
              <a:t>0</a:t>
            </a:r>
            <a:r>
              <a:rPr lang="ko-KR" altLang="en-US" sz="2000" dirty="0"/>
              <a:t>이 포함되어 있어</a:t>
            </a:r>
            <a:r>
              <a:rPr lang="en-US" altLang="ko-KR" sz="2000" dirty="0"/>
              <a:t>, Sharpe</a:t>
            </a:r>
            <a:r>
              <a:rPr lang="ko-KR" altLang="en-US" sz="2000" dirty="0"/>
              <a:t>가 유의하게 </a:t>
            </a:r>
            <a:r>
              <a:rPr lang="en-US" altLang="ko-KR" sz="2000" dirty="0"/>
              <a:t>0</a:t>
            </a:r>
            <a:r>
              <a:rPr lang="ko-KR" altLang="en-US" sz="2000" dirty="0"/>
              <a:t>보다 크다고 보기 어렵다 </a:t>
            </a:r>
            <a:r>
              <a:rPr lang="en-US" altLang="ko-KR" sz="2000" dirty="0"/>
              <a:t>(</a:t>
            </a:r>
            <a:r>
              <a:rPr lang="ko-KR" altLang="en-US" sz="2000" dirty="0"/>
              <a:t>표본이 </a:t>
            </a:r>
            <a:r>
              <a:rPr lang="en-US" altLang="ko-KR" sz="2000" dirty="0"/>
              <a:t>5</a:t>
            </a:r>
            <a:r>
              <a:rPr lang="ko-KR" altLang="en-US" sz="2000" dirty="0"/>
              <a:t>개라 </a:t>
            </a:r>
            <a:r>
              <a:rPr lang="en-US" altLang="ko-KR" sz="2000" dirty="0"/>
              <a:t>CI</a:t>
            </a:r>
            <a:r>
              <a:rPr lang="ko-KR" altLang="en-US" sz="2000" dirty="0"/>
              <a:t>가 넓은 점도 영향</a:t>
            </a:r>
            <a:r>
              <a:rPr lang="en-US" altLang="ko-KR" sz="2000" dirty="0"/>
              <a:t>)</a:t>
            </a:r>
          </a:p>
        </p:txBody>
      </p:sp>
      <p:pic>
        <p:nvPicPr>
          <p:cNvPr id="5" name="그림 4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25F5B6-BEDC-208B-768B-3AA627EB1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8" y="4136231"/>
            <a:ext cx="5316604" cy="24369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101141-FFC3-9906-A619-716E1BCFD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39" y="4136231"/>
            <a:ext cx="4650829" cy="243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74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A467D-BE66-4F4F-7AF1-10F54339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  <a:r>
              <a:rPr lang="en-US" altLang="ko-KR" dirty="0"/>
              <a:t> – models</a:t>
            </a:r>
            <a:r>
              <a:rPr lang="ko-KR" altLang="en-US" dirty="0"/>
              <a:t>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D178F6-1E5C-59A2-0BF0-5EA4241C6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37" y="1690688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300" dirty="0"/>
              <a:t>아래 그래프와 표는 각 설정의 평균 총 수익률</a:t>
            </a:r>
            <a:r>
              <a:rPr lang="en-US" altLang="ko-KR" sz="2300" dirty="0"/>
              <a:t>(%)</a:t>
            </a:r>
            <a:r>
              <a:rPr lang="ko-KR" altLang="en-US" sz="2300" dirty="0"/>
              <a:t>과 </a:t>
            </a:r>
            <a:r>
              <a:rPr lang="en-US" altLang="ko-KR" sz="2300" dirty="0"/>
              <a:t>95% CI</a:t>
            </a:r>
            <a:r>
              <a:rPr lang="ko-KR" altLang="en-US" sz="2300" dirty="0"/>
              <a:t>를 보여준다</a:t>
            </a:r>
            <a:r>
              <a:rPr lang="en-US" altLang="ko-KR" sz="2300" dirty="0"/>
              <a:t>.</a:t>
            </a:r>
          </a:p>
          <a:p>
            <a:pPr lvl="1"/>
            <a:r>
              <a:rPr lang="en-US" altLang="ko-KR" sz="1900" dirty="0" err="1"/>
              <a:t>low_lr</a:t>
            </a:r>
            <a:r>
              <a:rPr lang="ko-KR" altLang="en-US" sz="1900" dirty="0"/>
              <a:t>가 평균 수익률 측면에서 가장 높은 성과</a:t>
            </a:r>
            <a:r>
              <a:rPr lang="en-US" altLang="ko-KR" sz="1900" dirty="0"/>
              <a:t>(20.03%)</a:t>
            </a:r>
            <a:r>
              <a:rPr lang="ko-KR" altLang="en-US" sz="1900" dirty="0"/>
              <a:t>를 보였다</a:t>
            </a:r>
            <a:r>
              <a:rPr lang="en-US" altLang="ko-KR" sz="1900" dirty="0"/>
              <a:t>.</a:t>
            </a:r>
          </a:p>
          <a:p>
            <a:pPr lvl="1"/>
            <a:r>
              <a:rPr lang="en-US" altLang="ko-KR" sz="1900" dirty="0" err="1"/>
              <a:t>low_entropy</a:t>
            </a:r>
            <a:r>
              <a:rPr lang="en-US" altLang="ko-KR" sz="1900" dirty="0"/>
              <a:t> </a:t>
            </a:r>
            <a:r>
              <a:rPr lang="ko-KR" altLang="en-US" sz="1900" dirty="0"/>
              <a:t>역시 </a:t>
            </a:r>
            <a:r>
              <a:rPr lang="en-US" altLang="ko-KR" sz="1900" dirty="0"/>
              <a:t>baseline</a:t>
            </a:r>
            <a:r>
              <a:rPr lang="ko-KR" altLang="en-US" sz="1900" dirty="0"/>
              <a:t>보다 높은 평균 수익률</a:t>
            </a:r>
            <a:r>
              <a:rPr lang="en-US" altLang="ko-KR" sz="1900" dirty="0"/>
              <a:t>(12.24%)</a:t>
            </a:r>
            <a:r>
              <a:rPr lang="ko-KR" altLang="en-US" sz="1900" dirty="0"/>
              <a:t>을 기록했고</a:t>
            </a:r>
            <a:r>
              <a:rPr lang="en-US" altLang="ko-KR" sz="1900" dirty="0"/>
              <a:t>, 95% CI</a:t>
            </a:r>
            <a:r>
              <a:rPr lang="ko-KR" altLang="en-US" sz="1900" dirty="0"/>
              <a:t>가 </a:t>
            </a:r>
            <a:r>
              <a:rPr lang="en-US" altLang="ko-KR" sz="1900" dirty="0"/>
              <a:t>0% </a:t>
            </a:r>
            <a:r>
              <a:rPr lang="ko-KR" altLang="en-US" sz="1900" dirty="0"/>
              <a:t>위에 완전히 위치하는 유일한 설정이다 </a:t>
            </a:r>
            <a:r>
              <a:rPr lang="en-US" altLang="ko-KR" sz="1900" dirty="0">
                <a:sym typeface="Wingdings" panose="05000000000000000000" pitchFamily="2" charset="2"/>
              </a:rPr>
              <a:t></a:t>
            </a:r>
            <a:r>
              <a:rPr lang="ko-KR" altLang="en-US" sz="1900" dirty="0"/>
              <a:t> 양의 기대 수익을 가장 확실히 보여준다</a:t>
            </a:r>
            <a:r>
              <a:rPr lang="en-US" altLang="ko-KR" sz="1900" dirty="0"/>
              <a:t>.</a:t>
            </a:r>
          </a:p>
          <a:p>
            <a:pPr lvl="1"/>
            <a:r>
              <a:rPr lang="en-US" altLang="ko-KR" sz="1900" dirty="0" err="1"/>
              <a:t>small_clip</a:t>
            </a:r>
            <a:r>
              <a:rPr lang="ko-KR" altLang="en-US" sz="1900" dirty="0"/>
              <a:t>는 평균 수익률이 거의 </a:t>
            </a:r>
            <a:r>
              <a:rPr lang="en-US" altLang="ko-KR" sz="1900" dirty="0"/>
              <a:t>0% </a:t>
            </a:r>
            <a:r>
              <a:rPr lang="ko-KR" altLang="en-US" sz="1900" dirty="0"/>
              <a:t>근처이지만</a:t>
            </a:r>
            <a:r>
              <a:rPr lang="en-US" altLang="ko-KR" sz="1900" dirty="0"/>
              <a:t>, CI </a:t>
            </a:r>
            <a:r>
              <a:rPr lang="ko-KR" altLang="en-US" sz="1900" dirty="0"/>
              <a:t>폭이 매우 좁아 상대적으로 안정적인 전략에 가깝다</a:t>
            </a:r>
            <a:r>
              <a:rPr lang="en-US" altLang="ko-KR" sz="1900" dirty="0"/>
              <a:t>.</a:t>
            </a:r>
          </a:p>
          <a:p>
            <a:pPr lvl="1"/>
            <a:r>
              <a:rPr lang="en-US" altLang="ko-KR" sz="1900" dirty="0" err="1"/>
              <a:t>large_clip</a:t>
            </a:r>
            <a:r>
              <a:rPr lang="ko-KR" altLang="en-US" sz="1900" dirty="0"/>
              <a:t>는 평균 수익률이 음수</a:t>
            </a:r>
            <a:r>
              <a:rPr lang="en-US" altLang="ko-KR" sz="1900" dirty="0"/>
              <a:t>(-1.25%)</a:t>
            </a:r>
            <a:r>
              <a:rPr lang="ko-KR" altLang="en-US" sz="1900" dirty="0"/>
              <a:t>이고</a:t>
            </a:r>
            <a:r>
              <a:rPr lang="en-US" altLang="ko-KR" sz="1900" dirty="0"/>
              <a:t>, </a:t>
            </a:r>
            <a:r>
              <a:rPr lang="ko-KR" altLang="en-US" sz="1900" dirty="0"/>
              <a:t>변동성도 매우 커서 불안정한 학습 경향을 시사한다</a:t>
            </a:r>
            <a:r>
              <a:rPr lang="en-US" altLang="ko-KR" sz="1900" dirty="0"/>
              <a:t>.</a:t>
            </a:r>
          </a:p>
          <a:p>
            <a:pPr lvl="1"/>
            <a:endParaRPr lang="en-US" altLang="ko-KR" sz="2000" dirty="0"/>
          </a:p>
          <a:p>
            <a:endParaRPr lang="ko-KR" altLang="en-US" sz="24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C0F2BA1-3566-9522-700D-265EE615DB7B}"/>
              </a:ext>
            </a:extLst>
          </p:cNvPr>
          <p:cNvGrpSpPr/>
          <p:nvPr/>
        </p:nvGrpSpPr>
        <p:grpSpPr>
          <a:xfrm>
            <a:off x="838200" y="4210383"/>
            <a:ext cx="9893874" cy="2517270"/>
            <a:chOff x="1017373" y="4086816"/>
            <a:chExt cx="9893874" cy="251727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DB35760-0E14-E72A-5622-C694FA2C7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373" y="4086817"/>
              <a:ext cx="4899684" cy="2517269"/>
            </a:xfrm>
            <a:prstGeom prst="rect">
              <a:avLst/>
            </a:prstGeom>
          </p:spPr>
        </p:pic>
        <p:pic>
          <p:nvPicPr>
            <p:cNvPr id="7" name="그림 6" descr="텍스트, 도표, 라인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0E488EE-584C-8C2C-F79D-AC4D9918E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057" y="4086816"/>
              <a:ext cx="4994190" cy="25172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5536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56E21-15CB-DBAC-BF19-CA411682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  <a:r>
              <a:rPr lang="en-US" altLang="ko-KR" dirty="0"/>
              <a:t> - </a:t>
            </a:r>
            <a:r>
              <a:rPr lang="ko-KR" altLang="en-US" dirty="0"/>
              <a:t>개별 </a:t>
            </a:r>
            <a:r>
              <a:rPr lang="ko-KR" altLang="en-US" dirty="0" err="1"/>
              <a:t>시드</a:t>
            </a:r>
            <a:r>
              <a:rPr lang="ko-KR" altLang="en-US" dirty="0"/>
              <a:t> 관찰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60C150-55FE-15D5-6BA1-88ABCDEA7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85" y="1713214"/>
            <a:ext cx="11050030" cy="2105024"/>
          </a:xfrm>
        </p:spPr>
        <p:txBody>
          <a:bodyPr>
            <a:normAutofit/>
          </a:bodyPr>
          <a:lstStyle/>
          <a:p>
            <a:r>
              <a:rPr lang="ko-KR" altLang="en-US" dirty="0"/>
              <a:t>표에서 보이듯</a:t>
            </a:r>
            <a:r>
              <a:rPr lang="en-US" altLang="ko-KR" dirty="0"/>
              <a:t>, </a:t>
            </a:r>
            <a:r>
              <a:rPr lang="ko-KR" altLang="en-US" dirty="0"/>
              <a:t>동일한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설정 안에서도 </a:t>
            </a:r>
            <a:r>
              <a:rPr lang="ko-KR" altLang="en-US" dirty="0" err="1"/>
              <a:t>시드에</a:t>
            </a:r>
            <a:r>
              <a:rPr lang="ko-KR" altLang="en-US" dirty="0"/>
              <a:t> 따라 성능 변동이 상당히 크다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대부분 설정에서 최종 수익률의 표준편차가 </a:t>
            </a:r>
            <a:r>
              <a:rPr lang="en-US" altLang="ko-KR" dirty="0"/>
              <a:t>20% </a:t>
            </a:r>
            <a:r>
              <a:rPr lang="ko-KR" altLang="en-US" dirty="0"/>
              <a:t>내외로 나타났다</a:t>
            </a:r>
            <a:r>
              <a:rPr lang="en-US" altLang="ko-KR" dirty="0"/>
              <a:t>.  </a:t>
            </a:r>
          </a:p>
          <a:p>
            <a:r>
              <a:rPr lang="en-US" altLang="ko-KR" dirty="0"/>
              <a:t>MDD </a:t>
            </a:r>
            <a:r>
              <a:rPr lang="ko-KR" altLang="en-US" dirty="0"/>
              <a:t>역시 평균 </a:t>
            </a:r>
            <a:r>
              <a:rPr lang="en-US" altLang="ko-KR" dirty="0"/>
              <a:t>35~50% </a:t>
            </a:r>
            <a:r>
              <a:rPr lang="ko-KR" altLang="en-US" dirty="0"/>
              <a:t>수준으로 매우 큰 낙폭을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883B57-B85D-60BB-AB3C-A23632C5C2A7}"/>
              </a:ext>
            </a:extLst>
          </p:cNvPr>
          <p:cNvGrpSpPr/>
          <p:nvPr/>
        </p:nvGrpSpPr>
        <p:grpSpPr>
          <a:xfrm>
            <a:off x="196361" y="3702442"/>
            <a:ext cx="11799277" cy="2609458"/>
            <a:chOff x="18739" y="2270639"/>
            <a:chExt cx="12447803" cy="300787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B92D759-1ECC-962A-1034-197092029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8683"/>
            <a:stretch>
              <a:fillRect/>
            </a:stretch>
          </p:blipFill>
          <p:spPr>
            <a:xfrm>
              <a:off x="5690082" y="2270639"/>
              <a:ext cx="6776460" cy="300787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3655FF1-E27F-AF1E-8F64-64798C1A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739" y="2270639"/>
              <a:ext cx="5671343" cy="3007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4748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02280-DBAF-CAEB-15C0-9561E2FA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r>
              <a:rPr lang="en-US" altLang="ko-KR" dirty="0"/>
              <a:t>– </a:t>
            </a:r>
            <a:r>
              <a:rPr lang="ko-KR" altLang="en-US" dirty="0"/>
              <a:t>개별 </a:t>
            </a:r>
            <a:r>
              <a:rPr lang="ko-KR" altLang="en-US" dirty="0" err="1"/>
              <a:t>시드</a:t>
            </a:r>
            <a:r>
              <a:rPr lang="ko-KR" altLang="en-US" dirty="0"/>
              <a:t> 관찰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EF6C-0935-6056-272C-CC32B13D6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56281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800" dirty="0"/>
              <a:t>예를 들어 </a:t>
            </a:r>
            <a:r>
              <a:rPr lang="en-US" altLang="ko-KR" sz="1800" dirty="0"/>
              <a:t>baseline</a:t>
            </a:r>
            <a:r>
              <a:rPr lang="ko-KR" altLang="en-US" sz="1800" dirty="0"/>
              <a:t>의 경우 평균 최종 수익률은 </a:t>
            </a:r>
            <a:r>
              <a:rPr lang="en-US" altLang="ko-KR" sz="1800" dirty="0"/>
              <a:t>7.75%</a:t>
            </a:r>
            <a:r>
              <a:rPr lang="ko-KR" altLang="en-US" sz="1800" dirty="0"/>
              <a:t>이지만</a:t>
            </a:r>
            <a:r>
              <a:rPr lang="en-US" altLang="ko-KR" sz="1800" dirty="0"/>
              <a:t>, seed 0</a:t>
            </a:r>
            <a:r>
              <a:rPr lang="ko-KR" altLang="en-US" sz="1800" dirty="0"/>
              <a:t>은 </a:t>
            </a:r>
            <a:r>
              <a:rPr lang="en-US" altLang="ko-KR" sz="1800" dirty="0"/>
              <a:t>27.9%</a:t>
            </a:r>
            <a:r>
              <a:rPr lang="ko-KR" altLang="en-US" sz="1800" dirty="0"/>
              <a:t>의 수익률과 </a:t>
            </a:r>
            <a:r>
              <a:rPr lang="en-US" altLang="ko-KR" sz="1800" dirty="0"/>
              <a:t>48.8%</a:t>
            </a:r>
            <a:r>
              <a:rPr lang="ko-KR" altLang="en-US" sz="1800" dirty="0"/>
              <a:t>의 </a:t>
            </a:r>
            <a:r>
              <a:rPr lang="en-US" altLang="ko-KR" sz="1800" dirty="0"/>
              <a:t>MDD</a:t>
            </a:r>
            <a:r>
              <a:rPr lang="ko-KR" altLang="en-US" sz="1800" dirty="0"/>
              <a:t>를 기록한 반면 </a:t>
            </a:r>
            <a:r>
              <a:rPr lang="en-US" altLang="ko-KR" sz="1800" dirty="0"/>
              <a:t>seed 2</a:t>
            </a:r>
            <a:r>
              <a:rPr lang="ko-KR" altLang="en-US" sz="1800" dirty="0"/>
              <a:t>는 </a:t>
            </a:r>
            <a:r>
              <a:rPr lang="en-US" altLang="ko-KR" sz="1800" dirty="0"/>
              <a:t>-29.3%</a:t>
            </a:r>
            <a:r>
              <a:rPr lang="ko-KR" altLang="en-US" sz="1800" dirty="0"/>
              <a:t>의 손실과 </a:t>
            </a:r>
            <a:r>
              <a:rPr lang="en-US" altLang="ko-KR" sz="1800" dirty="0"/>
              <a:t>60.8%</a:t>
            </a:r>
            <a:r>
              <a:rPr lang="ko-KR" altLang="en-US" sz="1800" dirty="0"/>
              <a:t>의 </a:t>
            </a:r>
            <a:r>
              <a:rPr lang="en-US" altLang="ko-KR" sz="1800" dirty="0"/>
              <a:t>MDD</a:t>
            </a:r>
            <a:r>
              <a:rPr lang="ko-KR" altLang="en-US" sz="1800" dirty="0"/>
              <a:t>를 보였다</a:t>
            </a:r>
            <a:r>
              <a:rPr lang="en-US" altLang="ko-KR" sz="1800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800" dirty="0"/>
              <a:t>유사하게 </a:t>
            </a:r>
            <a:r>
              <a:rPr lang="en-US" altLang="ko-KR" sz="1800" dirty="0" err="1"/>
              <a:t>large_clip</a:t>
            </a:r>
            <a:r>
              <a:rPr lang="en-US" altLang="ko-KR" sz="1800" dirty="0"/>
              <a:t> </a:t>
            </a:r>
            <a:r>
              <a:rPr lang="ko-KR" altLang="en-US" sz="1800" dirty="0"/>
              <a:t>설정에서는 한 </a:t>
            </a:r>
            <a:r>
              <a:rPr lang="ko-KR" altLang="en-US" sz="1800" dirty="0" err="1"/>
              <a:t>시드가</a:t>
            </a:r>
            <a:r>
              <a:rPr lang="ko-KR" altLang="en-US" sz="1800" dirty="0"/>
              <a:t> </a:t>
            </a:r>
            <a:r>
              <a:rPr lang="en-US" altLang="ko-KR" sz="1800" dirty="0"/>
              <a:t>25.8% (MDD 14.4%)</a:t>
            </a:r>
            <a:r>
              <a:rPr lang="ko-KR" altLang="en-US" sz="1800" dirty="0"/>
              <a:t>의 양호한 결과를 내는 반면</a:t>
            </a:r>
            <a:r>
              <a:rPr lang="en-US" altLang="ko-KR" sz="1800" dirty="0"/>
              <a:t>, </a:t>
            </a:r>
            <a:r>
              <a:rPr lang="ko-KR" altLang="en-US" sz="1800" dirty="0"/>
              <a:t>다른 시드는 </a:t>
            </a:r>
            <a:r>
              <a:rPr lang="en-US" altLang="ko-KR" sz="1800" dirty="0"/>
              <a:t>-42.9% (MDD 60.9%)</a:t>
            </a:r>
            <a:r>
              <a:rPr lang="ko-KR" altLang="en-US" sz="1800" dirty="0"/>
              <a:t>까지 급락하는 등 극단적인 차이가 관찰된다</a:t>
            </a:r>
            <a:r>
              <a:rPr lang="en-US" altLang="ko-KR" sz="1800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800" dirty="0"/>
              <a:t>전반적으로 </a:t>
            </a:r>
            <a:r>
              <a:rPr lang="en-US" altLang="ko-KR" sz="1800" dirty="0" err="1"/>
              <a:t>low_lr</a:t>
            </a:r>
            <a:r>
              <a:rPr lang="en-US" altLang="ko-KR" sz="1800" dirty="0"/>
              <a:t> </a:t>
            </a:r>
            <a:r>
              <a:rPr lang="ko-KR" altLang="en-US" sz="1800" dirty="0"/>
              <a:t>설정이 평균 수익률</a:t>
            </a:r>
            <a:r>
              <a:rPr lang="en-US" altLang="ko-KR" sz="1800" dirty="0"/>
              <a:t>(20.12%)</a:t>
            </a:r>
            <a:r>
              <a:rPr lang="ko-KR" altLang="en-US" sz="1800" dirty="0"/>
              <a:t>과 </a:t>
            </a:r>
            <a:r>
              <a:rPr lang="en-US" altLang="ko-KR" sz="1800" dirty="0"/>
              <a:t>Sharpe(0.20) </a:t>
            </a:r>
            <a:r>
              <a:rPr lang="ko-KR" altLang="en-US" sz="1800" dirty="0"/>
              <a:t>측면에서 가장 우수하지만</a:t>
            </a:r>
            <a:r>
              <a:rPr lang="en-US" altLang="ko-KR" sz="1800" dirty="0"/>
              <a:t>, </a:t>
            </a:r>
            <a:r>
              <a:rPr lang="ko-KR" altLang="en-US" sz="1800" dirty="0"/>
              <a:t>평균 </a:t>
            </a:r>
            <a:r>
              <a:rPr lang="en-US" altLang="ko-KR" sz="1800" dirty="0"/>
              <a:t>MDD</a:t>
            </a:r>
            <a:r>
              <a:rPr lang="ko-KR" altLang="en-US" sz="1800" dirty="0"/>
              <a:t>가 여전히 </a:t>
            </a:r>
            <a:r>
              <a:rPr lang="en-US" altLang="ko-KR" sz="1800" dirty="0"/>
              <a:t>34.6% </a:t>
            </a:r>
            <a:r>
              <a:rPr lang="ko-KR" altLang="en-US" sz="1800" dirty="0"/>
              <a:t>수준으로 높아 리스크가 충분히 억제되었다고 보긴 어렵다</a:t>
            </a:r>
            <a:r>
              <a:rPr lang="en-US" altLang="ko-KR" sz="1800" dirty="0"/>
              <a:t>.  </a:t>
            </a:r>
          </a:p>
          <a:p>
            <a:pPr>
              <a:lnSpc>
                <a:spcPct val="120000"/>
              </a:lnSpc>
            </a:pPr>
            <a:r>
              <a:rPr lang="ko-KR" altLang="en-US" sz="1800" dirty="0"/>
              <a:t>즉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하이퍼파라미터</a:t>
            </a:r>
            <a:r>
              <a:rPr lang="ko-KR" altLang="en-US" sz="1800" dirty="0"/>
              <a:t> 튜닝을 통해 기대 수익과 </a:t>
            </a:r>
            <a:r>
              <a:rPr lang="en-US" altLang="ko-KR" sz="1800" dirty="0"/>
              <a:t>Sharpe</a:t>
            </a:r>
            <a:r>
              <a:rPr lang="ko-KR" altLang="en-US" sz="1800" dirty="0"/>
              <a:t>를 어느 정도 개선할 수는 있으나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시드</a:t>
            </a:r>
            <a:r>
              <a:rPr lang="ko-KR" altLang="en-US" sz="1800" dirty="0"/>
              <a:t> 의존성이 크고 포트폴리오 변동성 및 </a:t>
            </a:r>
            <a:r>
              <a:rPr lang="ko-KR" altLang="en-US" sz="1800" dirty="0" err="1"/>
              <a:t>최대낙폭이</a:t>
            </a:r>
            <a:r>
              <a:rPr lang="ko-KR" altLang="en-US" sz="1800" dirty="0"/>
              <a:t> 여전히 매우 큰 것이 확인된다</a:t>
            </a:r>
            <a:r>
              <a:rPr lang="en-US" altLang="ko-KR" sz="1800" dirty="0"/>
              <a:t>.  </a:t>
            </a:r>
          </a:p>
          <a:p>
            <a:pPr>
              <a:lnSpc>
                <a:spcPct val="120000"/>
              </a:lnSpc>
            </a:pPr>
            <a:r>
              <a:rPr lang="ko-KR" altLang="en-US" sz="1800" dirty="0"/>
              <a:t>실제 운용을 위해서는 추가적인 리스크 관리 기법</a:t>
            </a:r>
            <a:r>
              <a:rPr lang="en-US" altLang="ko-KR" sz="1800" dirty="0"/>
              <a:t>(</a:t>
            </a:r>
            <a:r>
              <a:rPr lang="ko-KR" altLang="en-US" sz="1800" dirty="0"/>
              <a:t>포지션 제한</a:t>
            </a:r>
            <a:r>
              <a:rPr lang="en-US" altLang="ko-KR" sz="1800" dirty="0"/>
              <a:t>, </a:t>
            </a:r>
            <a:r>
              <a:rPr lang="ko-KR" altLang="en-US" sz="1800" dirty="0"/>
              <a:t>레버리지 축소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손절</a:t>
            </a:r>
            <a:r>
              <a:rPr lang="ko-KR" altLang="en-US" sz="1800" dirty="0"/>
              <a:t> 규칙 등</a:t>
            </a:r>
            <a:r>
              <a:rPr lang="en-US" altLang="ko-KR" sz="1800" dirty="0"/>
              <a:t>)</a:t>
            </a:r>
            <a:r>
              <a:rPr lang="ko-KR" altLang="en-US" sz="1800" dirty="0"/>
              <a:t>과 더 긴 학습 및 평가 기간을 통한 안정성 검증이 필수적이다</a:t>
            </a:r>
            <a:r>
              <a:rPr lang="en-US" altLang="ko-KR" sz="1800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800" dirty="0" err="1"/>
              <a:t>시드별</a:t>
            </a:r>
            <a:r>
              <a:rPr lang="ko-KR" altLang="en-US" sz="1800" dirty="0"/>
              <a:t> 자세한 결과는 </a:t>
            </a:r>
            <a:r>
              <a:rPr lang="en-US" altLang="ko-KR" sz="1800" dirty="0"/>
              <a:t>GitHub </a:t>
            </a:r>
            <a:r>
              <a:rPr lang="ko-KR" altLang="en-US" sz="1800" dirty="0"/>
              <a:t>파일 </a:t>
            </a:r>
            <a:r>
              <a:rPr lang="en-US" altLang="ko-KR" sz="1800" dirty="0"/>
              <a:t>models_result.txt</a:t>
            </a:r>
            <a:r>
              <a:rPr lang="ko-KR" altLang="en-US" sz="1800" dirty="0"/>
              <a:t>로 확인 가능하다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17013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19B85-49F5-072D-C3AD-DA35DB85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024EEA-29E2-D5F9-036D-41493489C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6321"/>
          </a:xfrm>
        </p:spPr>
        <p:txBody>
          <a:bodyPr>
            <a:normAutofit/>
          </a:bodyPr>
          <a:lstStyle/>
          <a:p>
            <a:r>
              <a:rPr lang="en-US" altLang="ko-KR" dirty="0"/>
              <a:t>Entropy coefficient</a:t>
            </a:r>
            <a:r>
              <a:rPr lang="ko-KR" altLang="en-US" dirty="0"/>
              <a:t>의 영향</a:t>
            </a:r>
            <a:endParaRPr lang="en-US" altLang="ko-KR" dirty="0"/>
          </a:p>
          <a:p>
            <a:pPr lvl="1"/>
            <a:r>
              <a:rPr lang="en-US" altLang="ko-KR" dirty="0" err="1"/>
              <a:t>low_entropy</a:t>
            </a:r>
            <a:r>
              <a:rPr lang="en-US" altLang="ko-KR" dirty="0"/>
              <a:t>(0.0)</a:t>
            </a:r>
            <a:r>
              <a:rPr lang="ko-KR" altLang="en-US" dirty="0"/>
              <a:t>는 </a:t>
            </a:r>
            <a:r>
              <a:rPr lang="en-US" altLang="ko-KR" dirty="0"/>
              <a:t>baseline(0.03)</a:t>
            </a:r>
            <a:r>
              <a:rPr lang="ko-KR" altLang="en-US" dirty="0"/>
              <a:t>과 비교했을 때 </a:t>
            </a:r>
            <a:r>
              <a:rPr lang="en-US" altLang="ko-KR" dirty="0"/>
              <a:t>Sharpe</a:t>
            </a:r>
            <a:r>
              <a:rPr lang="ko-KR" altLang="en-US" dirty="0"/>
              <a:t>와 총 수익률 모두에서 개선된 성능을 보였다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탐색을 줄이고 보다 결정적인 정책을 학습하게 만든 결과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 데이터셋에서는 정책이 노이즈에 흔들리지 않고 특정 패턴에 집중하는 방향이 유리했던 것으로 해석할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반대로 **</a:t>
            </a:r>
            <a:r>
              <a:rPr lang="en-US" altLang="ko-KR" dirty="0" err="1"/>
              <a:t>high_entropy</a:t>
            </a:r>
            <a:r>
              <a:rPr lang="en-US" altLang="ko-KR" dirty="0"/>
              <a:t>(0.06)**</a:t>
            </a:r>
            <a:r>
              <a:rPr lang="ko-KR" altLang="en-US" dirty="0"/>
              <a:t>에서는 평균 </a:t>
            </a:r>
            <a:r>
              <a:rPr lang="en-US" altLang="ko-KR" dirty="0"/>
              <a:t>Sharpe</a:t>
            </a:r>
            <a:r>
              <a:rPr lang="ko-KR" altLang="en-US" dirty="0"/>
              <a:t>와 수익률 모두 </a:t>
            </a:r>
            <a:r>
              <a:rPr lang="en-US" altLang="ko-KR" dirty="0"/>
              <a:t>baseline</a:t>
            </a:r>
            <a:r>
              <a:rPr lang="ko-KR" altLang="en-US" dirty="0"/>
              <a:t>보다 낮아지거나 비슷한 수준이며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CI</a:t>
            </a:r>
            <a:r>
              <a:rPr lang="ko-KR" altLang="en-US" dirty="0"/>
              <a:t>도 매우 넓어 “탐색을 너무 많이 하는 </a:t>
            </a:r>
            <a:r>
              <a:rPr lang="ko-KR" altLang="en-US" dirty="0" err="1"/>
              <a:t>정책”이</a:t>
            </a:r>
            <a:r>
              <a:rPr lang="ko-KR" altLang="en-US" dirty="0"/>
              <a:t> 수익성에 부정적인 영향을 줄 수 있음을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209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4C1DD-B9DA-28FD-8568-7564C6CF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CD9FCC-1F8A-6C16-29B7-A9D1D5FEC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Clipping range</a:t>
            </a:r>
            <a:r>
              <a:rPr lang="ko-KR" altLang="en-US" dirty="0"/>
              <a:t>의 영향</a:t>
            </a:r>
            <a:endParaRPr lang="en-US" altLang="ko-KR" dirty="0"/>
          </a:p>
          <a:p>
            <a:pPr lvl="1"/>
            <a:r>
              <a:rPr lang="en-US" altLang="ko-KR" dirty="0" err="1"/>
              <a:t>small_clip</a:t>
            </a:r>
            <a:r>
              <a:rPr lang="en-US" altLang="ko-KR" dirty="0"/>
              <a:t>(0.02):</a:t>
            </a:r>
          </a:p>
          <a:p>
            <a:pPr lvl="2"/>
            <a:r>
              <a:rPr lang="ko-KR" altLang="en-US" dirty="0"/>
              <a:t>평균 수익률은 낮지만 변동성이 작고 </a:t>
            </a:r>
            <a:r>
              <a:rPr lang="en-US" altLang="ko-KR" dirty="0"/>
              <a:t>Sharpe CI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보다 확실히 크다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PPO</a:t>
            </a:r>
            <a:r>
              <a:rPr lang="ko-KR" altLang="en-US" dirty="0"/>
              <a:t>의 </a:t>
            </a:r>
            <a:r>
              <a:rPr lang="ko-KR" altLang="en-US" dirty="0" err="1"/>
              <a:t>클리핑을</a:t>
            </a:r>
            <a:r>
              <a:rPr lang="ko-KR" altLang="en-US" dirty="0"/>
              <a:t> 강하게 걸어 보수적 업데이트를 하게 만들면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크게 먹지도 못하지만 크게 지지도 않는” 형태의 안정적인 정책이 된다고 해석할 수 있다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 err="1"/>
              <a:t>Large_clip</a:t>
            </a:r>
            <a:r>
              <a:rPr lang="en-US" altLang="ko-KR" dirty="0"/>
              <a:t>(0.10):</a:t>
            </a:r>
          </a:p>
          <a:p>
            <a:pPr lvl="2"/>
            <a:r>
              <a:rPr lang="ko-KR" altLang="en-US" dirty="0"/>
              <a:t>평균 수익률이 음수이고</a:t>
            </a:r>
            <a:r>
              <a:rPr lang="en-US" altLang="ko-KR" dirty="0"/>
              <a:t>, std</a:t>
            </a:r>
            <a:r>
              <a:rPr lang="ko-KR" altLang="en-US" dirty="0"/>
              <a:t>와 </a:t>
            </a:r>
            <a:r>
              <a:rPr lang="en-US" altLang="ko-KR" dirty="0"/>
              <a:t>CI </a:t>
            </a:r>
            <a:r>
              <a:rPr lang="ko-KR" altLang="en-US" dirty="0"/>
              <a:t>폭이 매우 크다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이는 </a:t>
            </a:r>
            <a:r>
              <a:rPr lang="ko-KR" altLang="en-US" dirty="0" err="1"/>
              <a:t>클리핑</a:t>
            </a:r>
            <a:r>
              <a:rPr lang="ko-KR" altLang="en-US" dirty="0"/>
              <a:t> 범위를 넓혀 정책 업데이트를 과격하게 허용한 결과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특정 </a:t>
            </a:r>
            <a:r>
              <a:rPr lang="ko-KR" altLang="en-US" dirty="0" err="1"/>
              <a:t>시드에서는</a:t>
            </a:r>
            <a:r>
              <a:rPr lang="ko-KR" altLang="en-US" dirty="0"/>
              <a:t> 높은 수익을 내더라도 다른 </a:t>
            </a:r>
            <a:r>
              <a:rPr lang="ko-KR" altLang="en-US" dirty="0" err="1"/>
              <a:t>시드에서는</a:t>
            </a:r>
            <a:r>
              <a:rPr lang="ko-KR" altLang="en-US" dirty="0"/>
              <a:t> 매우 나쁜 정책으로 수렴할 위험이 큼을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6814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CE9F1-ECEA-675E-80D9-179A3845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90A414-527F-E681-9940-862287EF1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Learning rate</a:t>
            </a:r>
            <a:r>
              <a:rPr lang="ko-KR" altLang="en-US" dirty="0"/>
              <a:t>의 영향</a:t>
            </a:r>
            <a:endParaRPr lang="en-US" altLang="ko-KR" dirty="0"/>
          </a:p>
          <a:p>
            <a:pPr lvl="1"/>
            <a:r>
              <a:rPr lang="en-US" altLang="ko-KR" dirty="0" err="1"/>
              <a:t>low_lr</a:t>
            </a:r>
            <a:r>
              <a:rPr lang="en-US" altLang="ko-KR" dirty="0"/>
              <a:t>(1e-4)</a:t>
            </a:r>
            <a:r>
              <a:rPr lang="ko-KR" altLang="en-US" dirty="0"/>
              <a:t>는 </a:t>
            </a:r>
            <a:r>
              <a:rPr lang="en-US" altLang="ko-KR" dirty="0"/>
              <a:t>Sharpe</a:t>
            </a:r>
            <a:r>
              <a:rPr lang="ko-KR" altLang="en-US" dirty="0"/>
              <a:t>와 총 수익률 모두에서 가장 높은 평균 성능을 기록했다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낮은 </a:t>
            </a:r>
            <a:r>
              <a:rPr lang="en-US" altLang="ko-KR" dirty="0"/>
              <a:t>learning rate </a:t>
            </a:r>
            <a:r>
              <a:rPr lang="ko-KR" altLang="en-US" dirty="0"/>
              <a:t>덕분에 정책이 천천히</a:t>
            </a:r>
            <a:r>
              <a:rPr lang="en-US" altLang="ko-KR" dirty="0"/>
              <a:t>, </a:t>
            </a:r>
            <a:r>
              <a:rPr lang="ko-KR" altLang="en-US" dirty="0"/>
              <a:t>하지만 더 안정적으로 수렴하면서 시장 패턴을 더 잘 포착한 것으로 보인다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다만 </a:t>
            </a:r>
            <a:r>
              <a:rPr lang="en-US" altLang="ko-KR" dirty="0"/>
              <a:t>CI</a:t>
            </a:r>
            <a:r>
              <a:rPr lang="ko-KR" altLang="en-US" dirty="0"/>
              <a:t>가 넓고</a:t>
            </a:r>
            <a:r>
              <a:rPr lang="en-US" altLang="ko-KR" dirty="0"/>
              <a:t>, </a:t>
            </a:r>
            <a:r>
              <a:rPr lang="ko-KR" altLang="en-US" dirty="0"/>
              <a:t>일부 </a:t>
            </a:r>
            <a:r>
              <a:rPr lang="ko-KR" altLang="en-US" dirty="0" err="1"/>
              <a:t>시드에서는</a:t>
            </a:r>
            <a:r>
              <a:rPr lang="ko-KR" altLang="en-US" dirty="0"/>
              <a:t> 수익률이 음수가 되는 등 항상 좋은 전략이라고 말하기에는 표본 수가 부족하다는 한계가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759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CDF19-E267-44BD-5575-2BDB482F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A5B5265-4468-7A99-1274-E55DB221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3391"/>
          </a:xfrm>
        </p:spPr>
        <p:txBody>
          <a:bodyPr>
            <a:normAutofit/>
          </a:bodyPr>
          <a:lstStyle/>
          <a:p>
            <a:r>
              <a:rPr lang="ko-KR" altLang="en-US" dirty="0"/>
              <a:t>단일 종목</a:t>
            </a:r>
            <a:r>
              <a:rPr lang="en-US" altLang="ko-KR" dirty="0"/>
              <a:t>, </a:t>
            </a:r>
            <a:r>
              <a:rPr lang="ko-KR" altLang="en-US" dirty="0"/>
              <a:t>단일 기간 데이터</a:t>
            </a:r>
            <a:endParaRPr lang="en-US" altLang="ko-KR" dirty="0"/>
          </a:p>
          <a:p>
            <a:pPr lvl="1"/>
            <a:r>
              <a:rPr lang="ko-KR" altLang="en-US" dirty="0"/>
              <a:t>실험은 하나의 자산</a:t>
            </a:r>
            <a:r>
              <a:rPr lang="en-US" altLang="ko-KR" dirty="0"/>
              <a:t>, </a:t>
            </a:r>
            <a:r>
              <a:rPr lang="ko-KR" altLang="en-US" dirty="0"/>
              <a:t>하나의 기간에 한정되어 있어 다른 시장</a:t>
            </a:r>
            <a:r>
              <a:rPr lang="en-US" altLang="ko-KR" dirty="0"/>
              <a:t>, </a:t>
            </a:r>
            <a:r>
              <a:rPr lang="ko-KR" altLang="en-US" dirty="0"/>
              <a:t>기간에 대해 일반화 가능성은 확인하지 못했다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표본 수 부족</a:t>
            </a:r>
            <a:r>
              <a:rPr lang="en-US" altLang="ko-KR" dirty="0"/>
              <a:t>(seed = 5)</a:t>
            </a:r>
          </a:p>
          <a:p>
            <a:pPr lvl="1"/>
            <a:r>
              <a:rPr lang="ko-KR" altLang="en-US" dirty="0"/>
              <a:t>각 설정당 </a:t>
            </a:r>
            <a:r>
              <a:rPr lang="en-US" altLang="ko-KR" dirty="0"/>
              <a:t>5</a:t>
            </a:r>
            <a:r>
              <a:rPr lang="ko-KR" altLang="en-US" dirty="0"/>
              <a:t>번의 반복만 수행하여 신뢰구간이 비교적 넓다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더 많은 </a:t>
            </a:r>
            <a:r>
              <a:rPr lang="ko-KR" altLang="en-US" dirty="0" err="1"/>
              <a:t>시드를</a:t>
            </a:r>
            <a:r>
              <a:rPr lang="ko-KR" altLang="en-US" dirty="0"/>
              <a:t> 사용하여 통계적 결론을 명확하게 할 필요가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리스크 관리 부재</a:t>
            </a:r>
            <a:endParaRPr lang="en-US" altLang="ko-KR" dirty="0"/>
          </a:p>
          <a:p>
            <a:pPr lvl="1"/>
            <a:r>
              <a:rPr lang="en-US" altLang="ko-KR" dirty="0"/>
              <a:t>MDD</a:t>
            </a:r>
            <a:r>
              <a:rPr lang="ko-KR" altLang="en-US" dirty="0"/>
              <a:t>가 </a:t>
            </a:r>
            <a:r>
              <a:rPr lang="en-US" altLang="ko-KR" dirty="0"/>
              <a:t>40 ~ 60%</a:t>
            </a:r>
            <a:r>
              <a:rPr lang="ko-KR" altLang="en-US" dirty="0"/>
              <a:t>에 달하는 사례가 많아</a:t>
            </a:r>
            <a:r>
              <a:rPr lang="en-US" altLang="ko-KR" dirty="0"/>
              <a:t>, </a:t>
            </a:r>
            <a:r>
              <a:rPr lang="ko-KR" altLang="en-US" dirty="0"/>
              <a:t>실제 운용 가능한 전략으로 보기에는 어렵다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포지션 사이진</a:t>
            </a:r>
            <a:r>
              <a:rPr lang="en-US" altLang="ko-KR" dirty="0"/>
              <a:t>, </a:t>
            </a:r>
            <a:r>
              <a:rPr lang="ko-KR" altLang="en-US" dirty="0" err="1"/>
              <a:t>손절</a:t>
            </a:r>
            <a:r>
              <a:rPr lang="ko-KR" altLang="en-US" dirty="0"/>
              <a:t> 규칙 등의 리스크 관리 규칙을 </a:t>
            </a:r>
            <a:r>
              <a:rPr lang="en-US" altLang="ko-KR" dirty="0"/>
              <a:t>RL</a:t>
            </a:r>
            <a:r>
              <a:rPr lang="ko-KR" altLang="en-US" dirty="0"/>
              <a:t>과 함께 설계할 필요가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6486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D8725-412B-30D1-EF2E-3A464626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8F03E6-371F-9C1B-03FC-C5A6A11FD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672234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Entropy</a:t>
            </a:r>
            <a:r>
              <a:rPr lang="ko-KR" altLang="en-US" sz="2200" dirty="0"/>
              <a:t>를 낮추고</a:t>
            </a:r>
            <a:r>
              <a:rPr lang="en-US" altLang="ko-KR" sz="2200" dirty="0"/>
              <a:t>(</a:t>
            </a:r>
            <a:r>
              <a:rPr lang="en-US" altLang="ko-KR" sz="2200" dirty="0" err="1"/>
              <a:t>low_entropy</a:t>
            </a:r>
            <a:r>
              <a:rPr lang="en-US" altLang="ko-KR" sz="2200" dirty="0"/>
              <a:t>), Learning rate</a:t>
            </a:r>
            <a:r>
              <a:rPr lang="ko-KR" altLang="en-US" sz="2200" dirty="0"/>
              <a:t>를 줄이는</a:t>
            </a:r>
            <a:r>
              <a:rPr lang="en-US" altLang="ko-KR" sz="2200" dirty="0"/>
              <a:t>(</a:t>
            </a:r>
            <a:r>
              <a:rPr lang="en-US" altLang="ko-KR" sz="2200" dirty="0" err="1"/>
              <a:t>low_lr</a:t>
            </a:r>
            <a:r>
              <a:rPr lang="en-US" altLang="ko-KR" sz="2200" dirty="0"/>
              <a:t>) </a:t>
            </a:r>
            <a:r>
              <a:rPr lang="ko-KR" altLang="en-US" sz="2200" dirty="0"/>
              <a:t>방향이 이 데이터셋에서는 </a:t>
            </a:r>
            <a:r>
              <a:rPr lang="en-US" altLang="ko-KR" sz="2200" dirty="0"/>
              <a:t>Sharpe </a:t>
            </a:r>
            <a:r>
              <a:rPr lang="ko-KR" altLang="en-US" sz="2200" dirty="0"/>
              <a:t>및 총 수익률 모두에서 가장 유리했다</a:t>
            </a:r>
            <a:r>
              <a:rPr lang="en-US" altLang="ko-KR" sz="2200" dirty="0"/>
              <a:t>.</a:t>
            </a:r>
          </a:p>
          <a:p>
            <a:r>
              <a:rPr lang="ko-KR" altLang="en-US" sz="2200" dirty="0" err="1"/>
              <a:t>클리핑을</a:t>
            </a:r>
            <a:r>
              <a:rPr lang="ko-KR" altLang="en-US" sz="2200" dirty="0"/>
              <a:t> 너무 넓게 하는 </a:t>
            </a:r>
            <a:r>
              <a:rPr lang="en-US" altLang="ko-KR" sz="2200" dirty="0" err="1"/>
              <a:t>large_clip</a:t>
            </a:r>
            <a:r>
              <a:rPr lang="en-US" altLang="ko-KR" sz="2200" dirty="0"/>
              <a:t> </a:t>
            </a:r>
            <a:r>
              <a:rPr lang="ko-KR" altLang="en-US" sz="2200" dirty="0"/>
              <a:t>설정은 평균 성능이 오히려 악화되었고</a:t>
            </a:r>
            <a:r>
              <a:rPr lang="en-US" altLang="ko-KR" sz="2200" dirty="0"/>
              <a:t>, </a:t>
            </a:r>
            <a:r>
              <a:rPr lang="ko-KR" altLang="en-US" sz="2200" dirty="0"/>
              <a:t>작은 </a:t>
            </a:r>
            <a:r>
              <a:rPr lang="en-US" altLang="ko-KR" sz="2200" dirty="0"/>
              <a:t>clip(</a:t>
            </a:r>
            <a:r>
              <a:rPr lang="en-US" altLang="ko-KR" sz="2200" dirty="0" err="1"/>
              <a:t>small_clip</a:t>
            </a:r>
            <a:r>
              <a:rPr lang="en-US" altLang="ko-KR" sz="2200" dirty="0"/>
              <a:t>)</a:t>
            </a:r>
            <a:r>
              <a:rPr lang="ko-KR" altLang="en-US" sz="2200" dirty="0"/>
              <a:t>은 수익률은 낮지만 상대적으로 안정적인 결과를 보였다</a:t>
            </a:r>
            <a:r>
              <a:rPr lang="en-US" altLang="ko-KR" sz="2200" dirty="0"/>
              <a:t>.</a:t>
            </a:r>
          </a:p>
          <a:p>
            <a:r>
              <a:rPr lang="ko-KR" altLang="en-US" sz="2200" dirty="0"/>
              <a:t>그럼에도 불구하고 대부분 설정에서 큰 </a:t>
            </a:r>
            <a:r>
              <a:rPr lang="en-US" altLang="ko-KR" sz="2200" dirty="0"/>
              <a:t>MDD</a:t>
            </a:r>
            <a:r>
              <a:rPr lang="ko-KR" altLang="en-US" sz="2200" dirty="0"/>
              <a:t>와 높은 변동성이 관측되어</a:t>
            </a:r>
            <a:r>
              <a:rPr lang="en-US" altLang="ko-KR" sz="2200" dirty="0"/>
              <a:t>, </a:t>
            </a:r>
            <a:r>
              <a:rPr lang="ko-KR" altLang="en-US" sz="2200" dirty="0"/>
              <a:t>현재 모델은 이론적으로는 수익 기회를 포착하지만 실제 운용에는 위험이 큰 전략으로 해석할 수 있다</a:t>
            </a:r>
            <a:r>
              <a:rPr lang="en-US" altLang="ko-KR" sz="2200" dirty="0"/>
              <a:t>.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30AD4-1F8D-17CB-C5B6-BD8DB56172E8}"/>
              </a:ext>
            </a:extLst>
          </p:cNvPr>
          <p:cNvSpPr txBox="1"/>
          <p:nvPr/>
        </p:nvSpPr>
        <p:spPr>
          <a:xfrm>
            <a:off x="887627" y="4632798"/>
            <a:ext cx="10416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따라서 본 실험은 </a:t>
            </a:r>
            <a:r>
              <a:rPr lang="en-US" altLang="ko-KR" dirty="0"/>
              <a:t>PPO </a:t>
            </a:r>
            <a:r>
              <a:rPr lang="ko-KR" altLang="en-US" dirty="0" err="1"/>
              <a:t>하이퍼파라미터가</a:t>
            </a:r>
            <a:r>
              <a:rPr lang="ko-KR" altLang="en-US" dirty="0"/>
              <a:t> 트레이딩 에이전트의 수익성과 위험 프로파일에 미치는 정성적 경향을 확인했다는 점에서 의미가 있으며</a:t>
            </a:r>
            <a:r>
              <a:rPr lang="en-US" altLang="ko-KR" dirty="0"/>
              <a:t>, </a:t>
            </a:r>
            <a:r>
              <a:rPr lang="ko-KR" altLang="en-US" dirty="0"/>
              <a:t>실제 투자에 적용하기 위해서는 데이터</a:t>
            </a:r>
            <a:r>
              <a:rPr lang="en-US" altLang="ko-KR" dirty="0"/>
              <a:t>, </a:t>
            </a:r>
            <a:r>
              <a:rPr lang="ko-KR" altLang="en-US" dirty="0"/>
              <a:t>모델 구조</a:t>
            </a:r>
            <a:r>
              <a:rPr lang="en-US" altLang="ko-KR" dirty="0"/>
              <a:t>, </a:t>
            </a:r>
            <a:r>
              <a:rPr lang="ko-KR" altLang="en-US" dirty="0"/>
              <a:t>리스크 관리 측면에서 추가적인 개선이 필요함을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993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1807</Words>
  <Application>Microsoft Office PowerPoint</Application>
  <PresentationFormat>와이드스크린</PresentationFormat>
  <Paragraphs>193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Cambria Math</vt:lpstr>
      <vt:lpstr>Wingdings</vt:lpstr>
      <vt:lpstr>Office 테마</vt:lpstr>
      <vt:lpstr>RL-trader Upbit ETH/KRW 일봉 데이터를 이용한 강화학습 실험</vt:lpstr>
      <vt:lpstr>프로젝트 주제 및 목표</vt:lpstr>
      <vt:lpstr>데이터셋 및 전처리</vt:lpstr>
      <vt:lpstr>Trading 환경 설계</vt:lpstr>
      <vt:lpstr>State/Action/Reward</vt:lpstr>
      <vt:lpstr>PPO 선택 이유</vt:lpstr>
      <vt:lpstr>Evaluation matric</vt:lpstr>
      <vt:lpstr>Evaluation matric</vt:lpstr>
      <vt:lpstr>Evaluation matric</vt:lpstr>
      <vt:lpstr>PPO및 하이퍼파라미터 설정</vt:lpstr>
      <vt:lpstr>실험 결과 - Baseline</vt:lpstr>
      <vt:lpstr>실험 결과 - Baseline</vt:lpstr>
      <vt:lpstr>실험 결과 - Baseline</vt:lpstr>
      <vt:lpstr>실험 결과 – models 비교</vt:lpstr>
      <vt:lpstr>실험 결과 – models 비교</vt:lpstr>
      <vt:lpstr>실험 결과 - 개별 시드 관찰</vt:lpstr>
      <vt:lpstr>실험 결과 – 개별 시드 관찰</vt:lpstr>
      <vt:lpstr>논의</vt:lpstr>
      <vt:lpstr>논의</vt:lpstr>
      <vt:lpstr>논의</vt:lpstr>
      <vt:lpstr>한계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park</dc:creator>
  <cp:lastModifiedBy>joe park</cp:lastModifiedBy>
  <cp:revision>24</cp:revision>
  <dcterms:created xsi:type="dcterms:W3CDTF">2025-12-06T18:38:36Z</dcterms:created>
  <dcterms:modified xsi:type="dcterms:W3CDTF">2025-12-07T13:00:42Z</dcterms:modified>
</cp:coreProperties>
</file>